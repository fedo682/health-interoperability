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40AF"/>
          </a:solidFill>
          <a:ln w="12700">
            <a:solidFill>
              <a:srgbClr val="1E40AF"/>
            </a:solidFill>
            <a:prstDash val="solid"/>
          </a:ln>
        </p:spPr>
      </p:sp>
      <p:sp>
        <p:nvSpPr>
          <p:cNvPr id="3" name="Shape 1"/>
          <p:cNvSpPr/>
          <p:nvPr/>
        </p:nvSpPr>
        <p:spPr>
          <a:xfrm>
            <a:off x="164592" y="0"/>
            <a:ext cx="54864" cy="6858000"/>
          </a:xfrm>
          <a:prstGeom prst="rect">
            <a:avLst/>
          </a:prstGeom>
          <a:solidFill>
            <a:srgbClr val="0D9488"/>
          </a:solidFill>
          <a:ln w="12700">
            <a:solidFill>
              <a:srgbClr val="0D9488"/>
            </a:solidFill>
            <a:prstDash val="solid"/>
          </a:ln>
        </p:spPr>
      </p:sp>
      <p:sp>
        <p:nvSpPr>
          <p:cNvPr id="4" name="Shape 2"/>
          <p:cNvSpPr/>
          <p:nvPr/>
        </p:nvSpPr>
        <p:spPr>
          <a:xfrm>
            <a:off x="548640" y="502920"/>
            <a:ext cx="1463040" cy="292608"/>
          </a:xfrm>
          <a:prstGeom prst="rect">
            <a:avLst/>
          </a:prstGeom>
          <a:solidFill>
            <a:srgbClr val="1E40AF"/>
          </a:solidFill>
          <a:ln w="12700">
            <a:solidFill>
              <a:srgbClr val="1E40AF"/>
            </a:solidFill>
            <a:prstDash val="solid"/>
          </a:ln>
        </p:spPr>
      </p:sp>
      <p:sp>
        <p:nvSpPr>
          <p:cNvPr id="5" name="Text 3"/>
          <p:cNvSpPr/>
          <p:nvPr/>
        </p:nvSpPr>
        <p:spPr>
          <a:xfrm>
            <a:off x="548640" y="5029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COMP3342</a:t>
            </a:r>
            <a:endParaRPr lang="en-US" sz="1000" dirty="0"/>
          </a:p>
        </p:txBody>
      </p:sp>
      <p:sp>
        <p:nvSpPr>
          <p:cNvPr id="6" name="Text 4"/>
          <p:cNvSpPr/>
          <p:nvPr/>
        </p:nvSpPr>
        <p:spPr>
          <a:xfrm>
            <a:off x="502920" y="1005840"/>
            <a:ext cx="10058400" cy="822960"/>
          </a:xfrm>
          <a:prstGeom prst="rect">
            <a:avLst/>
          </a:prstGeom>
          <a:noFill/>
          <a:ln/>
        </p:spPr>
        <p:txBody>
          <a:bodyPr wrap="square" lIns="0" tIns="0" rIns="0" bIns="0" rtlCol="0" anchor="ctr"/>
          <a:lstStyle/>
          <a:p>
            <a:pPr indent="0" marL="0">
              <a:buNone/>
            </a:pPr>
            <a:r>
              <a:rPr lang="en-US" sz="5200" b="1" spc="-100" kern="0" dirty="0">
                <a:solidFill>
                  <a:srgbClr val="FFFFFF"/>
                </a:solidFill>
                <a:latin typeface="Calibri" pitchFamily="34" charset="0"/>
                <a:ea typeface="Calibri" pitchFamily="34" charset="-122"/>
                <a:cs typeface="Calibri" pitchFamily="34" charset="-120"/>
              </a:rPr>
              <a:t>Health Systems</a:t>
            </a:r>
            <a:endParaRPr lang="en-US" sz="5200" dirty="0"/>
          </a:p>
        </p:txBody>
      </p:sp>
      <p:sp>
        <p:nvSpPr>
          <p:cNvPr id="7" name="Text 5"/>
          <p:cNvSpPr/>
          <p:nvPr/>
        </p:nvSpPr>
        <p:spPr>
          <a:xfrm>
            <a:off x="502920" y="1783080"/>
            <a:ext cx="10058400" cy="822960"/>
          </a:xfrm>
          <a:prstGeom prst="rect">
            <a:avLst/>
          </a:prstGeom>
          <a:noFill/>
          <a:ln/>
        </p:spPr>
        <p:txBody>
          <a:bodyPr wrap="square" lIns="0" tIns="0" rIns="0" bIns="0" rtlCol="0" anchor="ctr"/>
          <a:lstStyle/>
          <a:p>
            <a:pPr indent="0" marL="0">
              <a:buNone/>
            </a:pPr>
            <a:r>
              <a:rPr lang="en-US" sz="5200" b="1" spc="-100" kern="0" dirty="0">
                <a:solidFill>
                  <a:srgbClr val="3B82F6"/>
                </a:solidFill>
                <a:latin typeface="Calibri" pitchFamily="34" charset="0"/>
                <a:ea typeface="Calibri" pitchFamily="34" charset="-122"/>
                <a:cs typeface="Calibri" pitchFamily="34" charset="-120"/>
              </a:rPr>
              <a:t>Interoperability</a:t>
            </a:r>
            <a:endParaRPr lang="en-US" sz="5200" dirty="0"/>
          </a:p>
        </p:txBody>
      </p:sp>
      <p:sp>
        <p:nvSpPr>
          <p:cNvPr id="8" name="Text 6"/>
          <p:cNvSpPr/>
          <p:nvPr/>
        </p:nvSpPr>
        <p:spPr>
          <a:xfrm>
            <a:off x="502920" y="2542032"/>
            <a:ext cx="10058400" cy="640080"/>
          </a:xfrm>
          <a:prstGeom prst="rect">
            <a:avLst/>
          </a:prstGeom>
          <a:noFill/>
          <a:ln/>
        </p:spPr>
        <p:txBody>
          <a:bodyPr wrap="square" lIns="0" tIns="0" rIns="0" bIns="0" rtlCol="0" anchor="ctr"/>
          <a:lstStyle/>
          <a:p>
            <a:pPr indent="0" marL="0">
              <a:buNone/>
            </a:pPr>
            <a:r>
              <a:rPr lang="en-US" sz="3800" dirty="0">
                <a:solidFill>
                  <a:srgbClr val="94A3B8"/>
                </a:solidFill>
                <a:latin typeface="Calibri" pitchFamily="34" charset="0"/>
                <a:ea typeface="Calibri" pitchFamily="34" charset="-122"/>
                <a:cs typeface="Calibri" pitchFamily="34" charset="-120"/>
              </a:rPr>
              <a:t>&amp; Integration</a:t>
            </a:r>
            <a:endParaRPr lang="en-US" sz="3800" dirty="0"/>
          </a:p>
        </p:txBody>
      </p:sp>
      <p:sp>
        <p:nvSpPr>
          <p:cNvPr id="9" name="Shape 7"/>
          <p:cNvSpPr/>
          <p:nvPr/>
        </p:nvSpPr>
        <p:spPr>
          <a:xfrm>
            <a:off x="502920" y="3337560"/>
            <a:ext cx="4114800" cy="27432"/>
          </a:xfrm>
          <a:prstGeom prst="rect">
            <a:avLst/>
          </a:prstGeom>
          <a:solidFill>
            <a:srgbClr val="0D9488"/>
          </a:solidFill>
          <a:ln w="12700">
            <a:solidFill>
              <a:srgbClr val="0D9488"/>
            </a:solidFill>
            <a:prstDash val="solid"/>
          </a:ln>
        </p:spPr>
      </p:sp>
      <p:sp>
        <p:nvSpPr>
          <p:cNvPr id="10" name="Text 8"/>
          <p:cNvSpPr/>
          <p:nvPr/>
        </p:nvSpPr>
        <p:spPr>
          <a:xfrm>
            <a:off x="502920" y="3493008"/>
            <a:ext cx="7772400" cy="1005840"/>
          </a:xfrm>
          <a:prstGeom prst="rect">
            <a:avLst/>
          </a:prstGeom>
          <a:noFill/>
          <a:ln/>
        </p:spPr>
        <p:txBody>
          <a:bodyPr wrap="square" lIns="0" tIns="0" rIns="0" bIns="0" rtlCol="0" anchor="ctr"/>
          <a:lstStyle/>
          <a:p>
            <a:pPr indent="0" marL="0">
              <a:lnSpc>
                <a:spcPct val="140000"/>
              </a:lnSpc>
              <a:buNone/>
            </a:pPr>
            <a:r>
              <a:rPr lang="en-US" sz="1300" dirty="0">
                <a:solidFill>
                  <a:srgbClr val="CBD5E1"/>
                </a:solidFill>
                <a:latin typeface="Calibri" pitchFamily="34" charset="0"/>
                <a:ea typeface="Calibri" pitchFamily="34" charset="-122"/>
                <a:cs typeface="Calibri" pitchFamily="34" charset="-120"/>
              </a:rPr>
              <a:t>Cardiac Emergency Patient Journey</a:t>
            </a:r>
            <a:endParaRPr lang="en-US" sz="1300" dirty="0"/>
          </a:p>
          <a:p>
            <a:pPr indent="0" marL="0">
              <a:lnSpc>
                <a:spcPct val="140000"/>
              </a:lnSpc>
              <a:buNone/>
            </a:pPr>
            <a:r>
              <a:rPr lang="en-US" sz="1300" dirty="0">
                <a:solidFill>
                  <a:srgbClr val="CBD5E1"/>
                </a:solidFill>
                <a:latin typeface="Calibri" pitchFamily="34" charset="0"/>
                <a:ea typeface="Calibri" pitchFamily="34" charset="-122"/>
                <a:cs typeface="Calibri" pitchFamily="34" charset="-120"/>
              </a:rPr>
              <a:t>Demonstrating Structural, Syntactic &amp; Semantic Interoperability</a:t>
            </a:r>
            <a:endParaRPr lang="en-US" sz="1300" dirty="0"/>
          </a:p>
          <a:p>
            <a:pPr indent="0" marL="0">
              <a:lnSpc>
                <a:spcPct val="140000"/>
              </a:lnSpc>
              <a:buNone/>
            </a:pPr>
            <a:r>
              <a:rPr lang="en-US" sz="1300" dirty="0">
                <a:solidFill>
                  <a:srgbClr val="CBD5E1"/>
                </a:solidFill>
                <a:latin typeface="Calibri" pitchFamily="34" charset="0"/>
                <a:ea typeface="Calibri" pitchFamily="34" charset="-122"/>
                <a:cs typeface="Calibri" pitchFamily="34" charset="-120"/>
              </a:rPr>
              <a:t>Across 5 Healthcare Providers &amp; 5 Integration Channels</a:t>
            </a:r>
            <a:endParaRPr lang="en-US" sz="1300" dirty="0"/>
          </a:p>
        </p:txBody>
      </p:sp>
      <p:sp>
        <p:nvSpPr>
          <p:cNvPr id="11" name="Shape 9"/>
          <p:cNvSpPr/>
          <p:nvPr/>
        </p:nvSpPr>
        <p:spPr>
          <a:xfrm>
            <a:off x="502920" y="4709160"/>
            <a:ext cx="1325880" cy="292608"/>
          </a:xfrm>
          <a:prstGeom prst="rect">
            <a:avLst/>
          </a:prstGeom>
          <a:solidFill>
            <a:srgbClr val="1E3A8A"/>
          </a:solidFill>
          <a:ln w="12700">
            <a:solidFill>
              <a:srgbClr val="1E40AF"/>
            </a:solidFill>
            <a:prstDash val="solid"/>
          </a:ln>
        </p:spPr>
      </p:sp>
      <p:sp>
        <p:nvSpPr>
          <p:cNvPr id="12" name="Text 10"/>
          <p:cNvSpPr/>
          <p:nvPr/>
        </p:nvSpPr>
        <p:spPr>
          <a:xfrm>
            <a:off x="502920" y="4709160"/>
            <a:ext cx="1325880" cy="29260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HL7 v2</a:t>
            </a:r>
            <a:endParaRPr lang="en-US" sz="900" dirty="0"/>
          </a:p>
        </p:txBody>
      </p:sp>
      <p:sp>
        <p:nvSpPr>
          <p:cNvPr id="13" name="Shape 11"/>
          <p:cNvSpPr/>
          <p:nvPr/>
        </p:nvSpPr>
        <p:spPr>
          <a:xfrm>
            <a:off x="1965960" y="4709160"/>
            <a:ext cx="1325880" cy="292608"/>
          </a:xfrm>
          <a:prstGeom prst="rect">
            <a:avLst/>
          </a:prstGeom>
          <a:solidFill>
            <a:srgbClr val="1E3A8A"/>
          </a:solidFill>
          <a:ln w="12700">
            <a:solidFill>
              <a:srgbClr val="1E40AF"/>
            </a:solidFill>
            <a:prstDash val="solid"/>
          </a:ln>
        </p:spPr>
      </p:sp>
      <p:sp>
        <p:nvSpPr>
          <p:cNvPr id="14" name="Text 12"/>
          <p:cNvSpPr/>
          <p:nvPr/>
        </p:nvSpPr>
        <p:spPr>
          <a:xfrm>
            <a:off x="1965960" y="4709160"/>
            <a:ext cx="1325880" cy="29260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FHIR R4</a:t>
            </a:r>
            <a:endParaRPr lang="en-US" sz="900" dirty="0"/>
          </a:p>
        </p:txBody>
      </p:sp>
      <p:sp>
        <p:nvSpPr>
          <p:cNvPr id="15" name="Shape 13"/>
          <p:cNvSpPr/>
          <p:nvPr/>
        </p:nvSpPr>
        <p:spPr>
          <a:xfrm>
            <a:off x="3429000" y="4709160"/>
            <a:ext cx="1325880" cy="292608"/>
          </a:xfrm>
          <a:prstGeom prst="rect">
            <a:avLst/>
          </a:prstGeom>
          <a:solidFill>
            <a:srgbClr val="1E3A8A"/>
          </a:solidFill>
          <a:ln w="12700">
            <a:solidFill>
              <a:srgbClr val="1E40AF"/>
            </a:solidFill>
            <a:prstDash val="solid"/>
          </a:ln>
        </p:spPr>
      </p:sp>
      <p:sp>
        <p:nvSpPr>
          <p:cNvPr id="16" name="Text 14"/>
          <p:cNvSpPr/>
          <p:nvPr/>
        </p:nvSpPr>
        <p:spPr>
          <a:xfrm>
            <a:off x="3429000" y="4709160"/>
            <a:ext cx="1325880" cy="29260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DICOM</a:t>
            </a:r>
            <a:endParaRPr lang="en-US" sz="900" dirty="0"/>
          </a:p>
        </p:txBody>
      </p:sp>
      <p:sp>
        <p:nvSpPr>
          <p:cNvPr id="17" name="Shape 15"/>
          <p:cNvSpPr/>
          <p:nvPr/>
        </p:nvSpPr>
        <p:spPr>
          <a:xfrm>
            <a:off x="4892040" y="4709160"/>
            <a:ext cx="1325880" cy="292608"/>
          </a:xfrm>
          <a:prstGeom prst="rect">
            <a:avLst/>
          </a:prstGeom>
          <a:solidFill>
            <a:srgbClr val="1E3A8A"/>
          </a:solidFill>
          <a:ln w="12700">
            <a:solidFill>
              <a:srgbClr val="1E40AF"/>
            </a:solidFill>
            <a:prstDash val="solid"/>
          </a:ln>
        </p:spPr>
      </p:sp>
      <p:sp>
        <p:nvSpPr>
          <p:cNvPr id="18" name="Text 16"/>
          <p:cNvSpPr/>
          <p:nvPr/>
        </p:nvSpPr>
        <p:spPr>
          <a:xfrm>
            <a:off x="4892040" y="4709160"/>
            <a:ext cx="1325880" cy="29260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ICD-10</a:t>
            </a:r>
            <a:endParaRPr lang="en-US" sz="900" dirty="0"/>
          </a:p>
        </p:txBody>
      </p:sp>
      <p:sp>
        <p:nvSpPr>
          <p:cNvPr id="19" name="Shape 17"/>
          <p:cNvSpPr/>
          <p:nvPr/>
        </p:nvSpPr>
        <p:spPr>
          <a:xfrm>
            <a:off x="502920" y="5093208"/>
            <a:ext cx="1325880" cy="292608"/>
          </a:xfrm>
          <a:prstGeom prst="rect">
            <a:avLst/>
          </a:prstGeom>
          <a:solidFill>
            <a:srgbClr val="1E3A8A"/>
          </a:solidFill>
          <a:ln w="12700">
            <a:solidFill>
              <a:srgbClr val="1E40AF"/>
            </a:solidFill>
            <a:prstDash val="solid"/>
          </a:ln>
        </p:spPr>
      </p:sp>
      <p:sp>
        <p:nvSpPr>
          <p:cNvPr id="20" name="Text 18"/>
          <p:cNvSpPr/>
          <p:nvPr/>
        </p:nvSpPr>
        <p:spPr>
          <a:xfrm>
            <a:off x="502920" y="5093208"/>
            <a:ext cx="1325880" cy="29260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LOINC</a:t>
            </a:r>
            <a:endParaRPr lang="en-US" sz="900" dirty="0"/>
          </a:p>
        </p:txBody>
      </p:sp>
      <p:sp>
        <p:nvSpPr>
          <p:cNvPr id="21" name="Shape 19"/>
          <p:cNvSpPr/>
          <p:nvPr/>
        </p:nvSpPr>
        <p:spPr>
          <a:xfrm>
            <a:off x="1965960" y="5093208"/>
            <a:ext cx="1325880" cy="292608"/>
          </a:xfrm>
          <a:prstGeom prst="rect">
            <a:avLst/>
          </a:prstGeom>
          <a:solidFill>
            <a:srgbClr val="1E3A8A"/>
          </a:solidFill>
          <a:ln w="12700">
            <a:solidFill>
              <a:srgbClr val="1E40AF"/>
            </a:solidFill>
            <a:prstDash val="solid"/>
          </a:ln>
        </p:spPr>
      </p:sp>
      <p:sp>
        <p:nvSpPr>
          <p:cNvPr id="22" name="Text 20"/>
          <p:cNvSpPr/>
          <p:nvPr/>
        </p:nvSpPr>
        <p:spPr>
          <a:xfrm>
            <a:off x="1965960" y="5093208"/>
            <a:ext cx="1325880" cy="29260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SNOMED CT</a:t>
            </a:r>
            <a:endParaRPr lang="en-US" sz="900" dirty="0"/>
          </a:p>
        </p:txBody>
      </p:sp>
      <p:sp>
        <p:nvSpPr>
          <p:cNvPr id="23" name="Shape 21"/>
          <p:cNvSpPr/>
          <p:nvPr/>
        </p:nvSpPr>
        <p:spPr>
          <a:xfrm>
            <a:off x="3429000" y="5093208"/>
            <a:ext cx="1325880" cy="292608"/>
          </a:xfrm>
          <a:prstGeom prst="rect">
            <a:avLst/>
          </a:prstGeom>
          <a:solidFill>
            <a:srgbClr val="1E3A8A"/>
          </a:solidFill>
          <a:ln w="12700">
            <a:solidFill>
              <a:srgbClr val="1E40AF"/>
            </a:solidFill>
            <a:prstDash val="solid"/>
          </a:ln>
        </p:spPr>
      </p:sp>
      <p:sp>
        <p:nvSpPr>
          <p:cNvPr id="24" name="Text 22"/>
          <p:cNvSpPr/>
          <p:nvPr/>
        </p:nvSpPr>
        <p:spPr>
          <a:xfrm>
            <a:off x="3429000" y="5093208"/>
            <a:ext cx="1325880" cy="292608"/>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RxNorm</a:t>
            </a:r>
            <a:endParaRPr lang="en-US" sz="900" dirty="0"/>
          </a:p>
        </p:txBody>
      </p:sp>
      <p:sp>
        <p:nvSpPr>
          <p:cNvPr id="25" name="Text 23"/>
          <p:cNvSpPr/>
          <p:nvPr/>
        </p:nvSpPr>
        <p:spPr>
          <a:xfrm>
            <a:off x="502920" y="635508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Group [GROUP NUMBER]  •  June 17,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E40AF"/>
          </a:solidFill>
          <a:ln w="12700">
            <a:solidFill>
              <a:srgbClr val="1E40AF"/>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Group Members</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COMP3342 Project Team</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365760" y="1188720"/>
            <a:ext cx="2148840" cy="5029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9" name="Shape 7"/>
          <p:cNvSpPr/>
          <p:nvPr/>
        </p:nvSpPr>
        <p:spPr>
          <a:xfrm>
            <a:off x="617220" y="1417320"/>
            <a:ext cx="1645920" cy="1645920"/>
          </a:xfrm>
          <a:prstGeom prst="ellipse">
            <a:avLst/>
          </a:prstGeom>
          <a:solidFill>
            <a:srgbClr val="E2E8F0"/>
          </a:solidFill>
          <a:ln w="12700">
            <a:solidFill>
              <a:srgbClr val="E2E8F0"/>
            </a:solidFill>
            <a:prstDash val="solid"/>
          </a:ln>
        </p:spPr>
      </p:sp>
      <p:pic>
        <p:nvPicPr>
          <p:cNvPr id="10" name="Image 0" descr="C:\Users\faah-\health interoperability\report\member_photos\Tariq_Makho.jpg">    </p:cNvPr>
          <p:cNvPicPr>
            <a:picLocks noChangeAspect="1"/>
          </p:cNvPicPr>
          <p:nvPr/>
        </p:nvPicPr>
        <p:blipFill>
          <a:blip r:embed="rId1"/>
          <a:srcRect l="0" r="0" t="0" b="0"/>
          <a:stretch/>
        </p:blipFill>
        <p:spPr>
          <a:xfrm>
            <a:off x="617220" y="1417320"/>
            <a:ext cx="1645920" cy="1645920"/>
          </a:xfrm>
          <a:prstGeom prst="ellipse">
            <a:avLst/>
          </a:prstGeom>
        </p:spPr>
      </p:pic>
      <p:sp>
        <p:nvSpPr>
          <p:cNvPr id="11" name="Text 8"/>
          <p:cNvSpPr/>
          <p:nvPr/>
        </p:nvSpPr>
        <p:spPr>
          <a:xfrm>
            <a:off x="457200" y="3200400"/>
            <a:ext cx="1965960" cy="384048"/>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Tariq Makho</a:t>
            </a:r>
            <a:endParaRPr lang="en-US" sz="1200" dirty="0"/>
          </a:p>
        </p:txBody>
      </p:sp>
      <p:sp>
        <p:nvSpPr>
          <p:cNvPr id="12" name="Text 9"/>
          <p:cNvSpPr/>
          <p:nvPr/>
        </p:nvSpPr>
        <p:spPr>
          <a:xfrm>
            <a:off x="457200" y="3584448"/>
            <a:ext cx="1965960" cy="594360"/>
          </a:xfrm>
          <a:prstGeom prst="rect">
            <a:avLst/>
          </a:prstGeom>
          <a:noFill/>
          <a:ln/>
        </p:spPr>
        <p:txBody>
          <a:bodyPr wrap="square" lIns="0" tIns="0" rIns="0" bIns="0" rtlCol="0" anchor="ctr"/>
          <a:lstStyle/>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Scenario Design</a:t>
            </a:r>
            <a:endParaRPr lang="en-US" sz="950" dirty="0"/>
          </a:p>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&amp; Timeline</a:t>
            </a:r>
            <a:endParaRPr lang="en-US" sz="950" dirty="0"/>
          </a:p>
        </p:txBody>
      </p:sp>
      <p:sp>
        <p:nvSpPr>
          <p:cNvPr id="13" name="Shape 10"/>
          <p:cNvSpPr/>
          <p:nvPr/>
        </p:nvSpPr>
        <p:spPr>
          <a:xfrm>
            <a:off x="1275588" y="4297680"/>
            <a:ext cx="329184" cy="329184"/>
          </a:xfrm>
          <a:prstGeom prst="ellipse">
            <a:avLst/>
          </a:prstGeom>
          <a:solidFill>
            <a:srgbClr val="1E40AF"/>
          </a:solidFill>
          <a:ln w="12700">
            <a:solidFill>
              <a:srgbClr val="1E40AF"/>
            </a:solidFill>
            <a:prstDash val="solid"/>
          </a:ln>
        </p:spPr>
      </p:sp>
      <p:sp>
        <p:nvSpPr>
          <p:cNvPr id="14" name="Text 11"/>
          <p:cNvSpPr/>
          <p:nvPr/>
        </p:nvSpPr>
        <p:spPr>
          <a:xfrm>
            <a:off x="1275588" y="429768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5" name="Shape 12"/>
          <p:cNvSpPr/>
          <p:nvPr/>
        </p:nvSpPr>
        <p:spPr>
          <a:xfrm>
            <a:off x="2651760" y="1188720"/>
            <a:ext cx="2148840" cy="5029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16" name="Shape 13"/>
          <p:cNvSpPr/>
          <p:nvPr/>
        </p:nvSpPr>
        <p:spPr>
          <a:xfrm>
            <a:off x="2903220" y="1417320"/>
            <a:ext cx="1645920" cy="1645920"/>
          </a:xfrm>
          <a:prstGeom prst="ellipse">
            <a:avLst/>
          </a:prstGeom>
          <a:solidFill>
            <a:srgbClr val="E2E8F0"/>
          </a:solidFill>
          <a:ln w="12700">
            <a:solidFill>
              <a:srgbClr val="E2E8F0"/>
            </a:solidFill>
            <a:prstDash val="solid"/>
          </a:ln>
        </p:spPr>
      </p:sp>
      <p:pic>
        <p:nvPicPr>
          <p:cNvPr id="17" name="Image 1" descr="C:\Users\faah-\health interoperability\report\member_photos\Omar_Diebas.jpg">    </p:cNvPr>
          <p:cNvPicPr>
            <a:picLocks noChangeAspect="1"/>
          </p:cNvPicPr>
          <p:nvPr/>
        </p:nvPicPr>
        <p:blipFill>
          <a:blip r:embed="rId2"/>
          <a:srcRect l="0" r="0" t="0" b="0"/>
          <a:stretch/>
        </p:blipFill>
        <p:spPr>
          <a:xfrm>
            <a:off x="2903220" y="1417320"/>
            <a:ext cx="1645920" cy="1645920"/>
          </a:xfrm>
          <a:prstGeom prst="ellipse">
            <a:avLst/>
          </a:prstGeom>
        </p:spPr>
      </p:pic>
      <p:sp>
        <p:nvSpPr>
          <p:cNvPr id="18" name="Text 14"/>
          <p:cNvSpPr/>
          <p:nvPr/>
        </p:nvSpPr>
        <p:spPr>
          <a:xfrm>
            <a:off x="2743200" y="3200400"/>
            <a:ext cx="1965960" cy="384048"/>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Omar Diebas</a:t>
            </a:r>
            <a:endParaRPr lang="en-US" sz="1200" dirty="0"/>
          </a:p>
        </p:txBody>
      </p:sp>
      <p:sp>
        <p:nvSpPr>
          <p:cNvPr id="19" name="Text 15"/>
          <p:cNvSpPr/>
          <p:nvPr/>
        </p:nvSpPr>
        <p:spPr>
          <a:xfrm>
            <a:off x="2743200" y="3584448"/>
            <a:ext cx="1965960" cy="594360"/>
          </a:xfrm>
          <a:prstGeom prst="rect">
            <a:avLst/>
          </a:prstGeom>
          <a:noFill/>
          <a:ln/>
        </p:spPr>
        <p:txBody>
          <a:bodyPr wrap="square" lIns="0" tIns="0" rIns="0" bIns="0" rtlCol="0" anchor="ctr"/>
          <a:lstStyle/>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Dataset Creation</a:t>
            </a:r>
            <a:endParaRPr lang="en-US" sz="950" dirty="0"/>
          </a:p>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&amp; Databases</a:t>
            </a:r>
            <a:endParaRPr lang="en-US" sz="950" dirty="0"/>
          </a:p>
        </p:txBody>
      </p:sp>
      <p:sp>
        <p:nvSpPr>
          <p:cNvPr id="20" name="Shape 16"/>
          <p:cNvSpPr/>
          <p:nvPr/>
        </p:nvSpPr>
        <p:spPr>
          <a:xfrm>
            <a:off x="3561588" y="4297680"/>
            <a:ext cx="329184" cy="329184"/>
          </a:xfrm>
          <a:prstGeom prst="ellipse">
            <a:avLst/>
          </a:prstGeom>
          <a:solidFill>
            <a:srgbClr val="7C3AED"/>
          </a:solidFill>
          <a:ln w="12700">
            <a:solidFill>
              <a:srgbClr val="7C3AED"/>
            </a:solidFill>
            <a:prstDash val="solid"/>
          </a:ln>
        </p:spPr>
      </p:sp>
      <p:sp>
        <p:nvSpPr>
          <p:cNvPr id="21" name="Text 17"/>
          <p:cNvSpPr/>
          <p:nvPr/>
        </p:nvSpPr>
        <p:spPr>
          <a:xfrm>
            <a:off x="3561588" y="429768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2" name="Shape 18"/>
          <p:cNvSpPr/>
          <p:nvPr/>
        </p:nvSpPr>
        <p:spPr>
          <a:xfrm>
            <a:off x="4937760" y="1188720"/>
            <a:ext cx="2148840" cy="5029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23" name="Shape 19"/>
          <p:cNvSpPr/>
          <p:nvPr/>
        </p:nvSpPr>
        <p:spPr>
          <a:xfrm>
            <a:off x="5189220" y="1417320"/>
            <a:ext cx="1645920" cy="1645920"/>
          </a:xfrm>
          <a:prstGeom prst="ellipse">
            <a:avLst/>
          </a:prstGeom>
          <a:solidFill>
            <a:srgbClr val="E2E8F0"/>
          </a:solidFill>
          <a:ln w="12700">
            <a:solidFill>
              <a:srgbClr val="E2E8F0"/>
            </a:solidFill>
            <a:prstDash val="solid"/>
          </a:ln>
        </p:spPr>
      </p:sp>
      <p:pic>
        <p:nvPicPr>
          <p:cNvPr id="24" name="Image 2" descr="C:\Users\faah-\health interoperability\report\member_photos\Qais_Alqarem.jpg">    </p:cNvPr>
          <p:cNvPicPr>
            <a:picLocks noChangeAspect="1"/>
          </p:cNvPicPr>
          <p:nvPr/>
        </p:nvPicPr>
        <p:blipFill>
          <a:blip r:embed="rId3"/>
          <a:srcRect l="0" r="0" t="0" b="0"/>
          <a:stretch/>
        </p:blipFill>
        <p:spPr>
          <a:xfrm>
            <a:off x="5189220" y="1417320"/>
            <a:ext cx="1645920" cy="1645920"/>
          </a:xfrm>
          <a:prstGeom prst="ellipse">
            <a:avLst/>
          </a:prstGeom>
        </p:spPr>
      </p:pic>
      <p:sp>
        <p:nvSpPr>
          <p:cNvPr id="25" name="Text 20"/>
          <p:cNvSpPr/>
          <p:nvPr/>
        </p:nvSpPr>
        <p:spPr>
          <a:xfrm>
            <a:off x="5029200" y="3200400"/>
            <a:ext cx="1965960" cy="384048"/>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Qais Alqarem</a:t>
            </a:r>
            <a:endParaRPr lang="en-US" sz="1200" dirty="0"/>
          </a:p>
        </p:txBody>
      </p:sp>
      <p:sp>
        <p:nvSpPr>
          <p:cNvPr id="26" name="Text 21"/>
          <p:cNvSpPr/>
          <p:nvPr/>
        </p:nvSpPr>
        <p:spPr>
          <a:xfrm>
            <a:off x="5029200" y="3584448"/>
            <a:ext cx="1965960" cy="594360"/>
          </a:xfrm>
          <a:prstGeom prst="rect">
            <a:avLst/>
          </a:prstGeom>
          <a:noFill/>
          <a:ln/>
        </p:spPr>
        <p:txBody>
          <a:bodyPr wrap="square" lIns="0" tIns="0" rIns="0" bIns="0" rtlCol="0" anchor="ctr"/>
          <a:lstStyle/>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Interoperability</a:t>
            </a:r>
            <a:endParaRPr lang="en-US" sz="950" dirty="0"/>
          </a:p>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Channels 1 &amp; 2</a:t>
            </a:r>
            <a:endParaRPr lang="en-US" sz="950" dirty="0"/>
          </a:p>
        </p:txBody>
      </p:sp>
      <p:sp>
        <p:nvSpPr>
          <p:cNvPr id="27" name="Shape 22"/>
          <p:cNvSpPr/>
          <p:nvPr/>
        </p:nvSpPr>
        <p:spPr>
          <a:xfrm>
            <a:off x="5847588" y="4297680"/>
            <a:ext cx="329184" cy="329184"/>
          </a:xfrm>
          <a:prstGeom prst="ellipse">
            <a:avLst/>
          </a:prstGeom>
          <a:solidFill>
            <a:srgbClr val="0D9488"/>
          </a:solidFill>
          <a:ln w="12700">
            <a:solidFill>
              <a:srgbClr val="0D9488"/>
            </a:solidFill>
            <a:prstDash val="solid"/>
          </a:ln>
        </p:spPr>
      </p:sp>
      <p:sp>
        <p:nvSpPr>
          <p:cNvPr id="28" name="Text 23"/>
          <p:cNvSpPr/>
          <p:nvPr/>
        </p:nvSpPr>
        <p:spPr>
          <a:xfrm>
            <a:off x="5847588" y="429768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Shape 24"/>
          <p:cNvSpPr/>
          <p:nvPr/>
        </p:nvSpPr>
        <p:spPr>
          <a:xfrm>
            <a:off x="7223760" y="1188720"/>
            <a:ext cx="2148840" cy="5029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30" name="Shape 25"/>
          <p:cNvSpPr/>
          <p:nvPr/>
        </p:nvSpPr>
        <p:spPr>
          <a:xfrm>
            <a:off x="7475220" y="1417320"/>
            <a:ext cx="1645920" cy="1645920"/>
          </a:xfrm>
          <a:prstGeom prst="ellipse">
            <a:avLst/>
          </a:prstGeom>
          <a:solidFill>
            <a:srgbClr val="E2E8F0"/>
          </a:solidFill>
          <a:ln w="12700">
            <a:solidFill>
              <a:srgbClr val="E2E8F0"/>
            </a:solidFill>
            <a:prstDash val="solid"/>
          </a:ln>
        </p:spPr>
      </p:sp>
      <p:pic>
        <p:nvPicPr>
          <p:cNvPr id="31" name="Image 3" descr="C:\Users\faah-\health interoperability\report\member_photos\Omar_Taweel.jpg">    </p:cNvPr>
          <p:cNvPicPr>
            <a:picLocks noChangeAspect="1"/>
          </p:cNvPicPr>
          <p:nvPr/>
        </p:nvPicPr>
        <p:blipFill>
          <a:blip r:embed="rId4"/>
          <a:srcRect l="0" r="0" t="0" b="0"/>
          <a:stretch/>
        </p:blipFill>
        <p:spPr>
          <a:xfrm>
            <a:off x="7475220" y="1417320"/>
            <a:ext cx="1645920" cy="1645920"/>
          </a:xfrm>
          <a:prstGeom prst="ellipse">
            <a:avLst/>
          </a:prstGeom>
        </p:spPr>
      </p:pic>
      <p:sp>
        <p:nvSpPr>
          <p:cNvPr id="32" name="Text 26"/>
          <p:cNvSpPr/>
          <p:nvPr/>
        </p:nvSpPr>
        <p:spPr>
          <a:xfrm>
            <a:off x="7315200" y="3200400"/>
            <a:ext cx="1965960" cy="384048"/>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Omar Taweel</a:t>
            </a:r>
            <a:endParaRPr lang="en-US" sz="1200" dirty="0"/>
          </a:p>
        </p:txBody>
      </p:sp>
      <p:sp>
        <p:nvSpPr>
          <p:cNvPr id="33" name="Text 27"/>
          <p:cNvSpPr/>
          <p:nvPr/>
        </p:nvSpPr>
        <p:spPr>
          <a:xfrm>
            <a:off x="7315200" y="3584448"/>
            <a:ext cx="1965960" cy="594360"/>
          </a:xfrm>
          <a:prstGeom prst="rect">
            <a:avLst/>
          </a:prstGeom>
          <a:noFill/>
          <a:ln/>
        </p:spPr>
        <p:txBody>
          <a:bodyPr wrap="square" lIns="0" tIns="0" rIns="0" bIns="0" rtlCol="0" anchor="ctr"/>
          <a:lstStyle/>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Channels 3, 4 &amp; 5</a:t>
            </a:r>
            <a:endParaRPr lang="en-US" sz="950" dirty="0"/>
          </a:p>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&amp; Transformations</a:t>
            </a:r>
            <a:endParaRPr lang="en-US" sz="950" dirty="0"/>
          </a:p>
        </p:txBody>
      </p:sp>
      <p:sp>
        <p:nvSpPr>
          <p:cNvPr id="34" name="Shape 28"/>
          <p:cNvSpPr/>
          <p:nvPr/>
        </p:nvSpPr>
        <p:spPr>
          <a:xfrm>
            <a:off x="8133588" y="4297680"/>
            <a:ext cx="329184" cy="329184"/>
          </a:xfrm>
          <a:prstGeom prst="ellipse">
            <a:avLst/>
          </a:prstGeom>
          <a:solidFill>
            <a:srgbClr val="EA580C"/>
          </a:solidFill>
          <a:ln w="12700">
            <a:solidFill>
              <a:srgbClr val="EA580C"/>
            </a:solidFill>
            <a:prstDash val="solid"/>
          </a:ln>
        </p:spPr>
      </p:sp>
      <p:sp>
        <p:nvSpPr>
          <p:cNvPr id="35" name="Text 29"/>
          <p:cNvSpPr/>
          <p:nvPr/>
        </p:nvSpPr>
        <p:spPr>
          <a:xfrm>
            <a:off x="8133588" y="429768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Shape 30"/>
          <p:cNvSpPr/>
          <p:nvPr/>
        </p:nvSpPr>
        <p:spPr>
          <a:xfrm>
            <a:off x="9509760" y="1188720"/>
            <a:ext cx="2148840" cy="50292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37" name="Shape 31"/>
          <p:cNvSpPr/>
          <p:nvPr/>
        </p:nvSpPr>
        <p:spPr>
          <a:xfrm>
            <a:off x="9761220" y="1417320"/>
            <a:ext cx="1645920" cy="1645920"/>
          </a:xfrm>
          <a:prstGeom prst="ellipse">
            <a:avLst/>
          </a:prstGeom>
          <a:solidFill>
            <a:srgbClr val="E2E8F0"/>
          </a:solidFill>
          <a:ln w="12700">
            <a:solidFill>
              <a:srgbClr val="E2E8F0"/>
            </a:solidFill>
            <a:prstDash val="solid"/>
          </a:ln>
        </p:spPr>
      </p:sp>
      <p:pic>
        <p:nvPicPr>
          <p:cNvPr id="38" name="Image 4" descr="C:\Users\faah-\health interoperability\report\member_photos\Fadi_Halaweh.png">    </p:cNvPr>
          <p:cNvPicPr>
            <a:picLocks noChangeAspect="1"/>
          </p:cNvPicPr>
          <p:nvPr/>
        </p:nvPicPr>
        <p:blipFill>
          <a:blip r:embed="rId5"/>
          <a:srcRect l="0" r="0" t="0" b="0"/>
          <a:stretch/>
        </p:blipFill>
        <p:spPr>
          <a:xfrm>
            <a:off x="9761220" y="1417320"/>
            <a:ext cx="1645920" cy="1645920"/>
          </a:xfrm>
          <a:prstGeom prst="ellipse">
            <a:avLst/>
          </a:prstGeom>
        </p:spPr>
      </p:pic>
      <p:sp>
        <p:nvSpPr>
          <p:cNvPr id="39" name="Text 32"/>
          <p:cNvSpPr/>
          <p:nvPr/>
        </p:nvSpPr>
        <p:spPr>
          <a:xfrm>
            <a:off x="9601200" y="3200400"/>
            <a:ext cx="1965960" cy="384048"/>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Fadi Halaweh</a:t>
            </a:r>
            <a:endParaRPr lang="en-US" sz="1200" dirty="0"/>
          </a:p>
        </p:txBody>
      </p:sp>
      <p:sp>
        <p:nvSpPr>
          <p:cNvPr id="40" name="Text 33"/>
          <p:cNvSpPr/>
          <p:nvPr/>
        </p:nvSpPr>
        <p:spPr>
          <a:xfrm>
            <a:off x="9601200" y="3584448"/>
            <a:ext cx="1965960" cy="594360"/>
          </a:xfrm>
          <a:prstGeom prst="rect">
            <a:avLst/>
          </a:prstGeom>
          <a:noFill/>
          <a:ln/>
        </p:spPr>
        <p:txBody>
          <a:bodyPr wrap="square" lIns="0" tIns="0" rIns="0" bIns="0" rtlCol="0" anchor="ctr"/>
          <a:lstStyle/>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Demo Application</a:t>
            </a:r>
            <a:endParaRPr lang="en-US" sz="950" dirty="0"/>
          </a:p>
          <a:p>
            <a:pPr algn="ctr" indent="0" marL="0">
              <a:lnSpc>
                <a:spcPct val="130000"/>
              </a:lnSpc>
              <a:buNone/>
            </a:pPr>
            <a:r>
              <a:rPr lang="en-US" sz="950" dirty="0">
                <a:solidFill>
                  <a:srgbClr val="475569"/>
                </a:solidFill>
                <a:latin typeface="Calibri" pitchFamily="34" charset="0"/>
                <a:ea typeface="Calibri" pitchFamily="34" charset="-122"/>
                <a:cs typeface="Calibri" pitchFamily="34" charset="-120"/>
              </a:rPr>
              <a:t>&amp; Report</a:t>
            </a:r>
            <a:endParaRPr lang="en-US" sz="950" dirty="0"/>
          </a:p>
        </p:txBody>
      </p:sp>
      <p:sp>
        <p:nvSpPr>
          <p:cNvPr id="41" name="Shape 34"/>
          <p:cNvSpPr/>
          <p:nvPr/>
        </p:nvSpPr>
        <p:spPr>
          <a:xfrm>
            <a:off x="10419588" y="4297680"/>
            <a:ext cx="329184" cy="329184"/>
          </a:xfrm>
          <a:prstGeom prst="ellipse">
            <a:avLst/>
          </a:prstGeom>
          <a:solidFill>
            <a:srgbClr val="059669"/>
          </a:solidFill>
          <a:ln w="12700">
            <a:solidFill>
              <a:srgbClr val="059669"/>
            </a:solidFill>
            <a:prstDash val="solid"/>
          </a:ln>
        </p:spPr>
      </p:sp>
      <p:sp>
        <p:nvSpPr>
          <p:cNvPr id="42" name="Text 35"/>
          <p:cNvSpPr/>
          <p:nvPr/>
        </p:nvSpPr>
        <p:spPr>
          <a:xfrm>
            <a:off x="10419588" y="429768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E40AF"/>
          </a:solidFill>
          <a:ln w="12700">
            <a:solidFill>
              <a:srgbClr val="1E40AF"/>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Patient Scenario</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Cardiac Emergency — Fadi Halaweh (DOB: 1985-03-12)</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365760" y="1115568"/>
            <a:ext cx="11430000" cy="932688"/>
          </a:xfrm>
          <a:prstGeom prst="rect">
            <a:avLst/>
          </a:prstGeom>
          <a:solidFill>
            <a:srgbClr val="EFF6FF"/>
          </a:solidFill>
          <a:ln w="12700">
            <a:solidFill>
              <a:srgbClr val="BFDBFE"/>
            </a:solidFill>
            <a:prstDash val="solid"/>
          </a:ln>
        </p:spPr>
      </p:sp>
      <p:sp>
        <p:nvSpPr>
          <p:cNvPr id="9" name="Shape 7"/>
          <p:cNvSpPr/>
          <p:nvPr/>
        </p:nvSpPr>
        <p:spPr>
          <a:xfrm>
            <a:off x="365760" y="1115568"/>
            <a:ext cx="54864" cy="932688"/>
          </a:xfrm>
          <a:prstGeom prst="rect">
            <a:avLst/>
          </a:prstGeom>
          <a:solidFill>
            <a:srgbClr val="1E40AF"/>
          </a:solidFill>
          <a:ln w="12700">
            <a:solidFill>
              <a:srgbClr val="1E40AF"/>
            </a:solidFill>
            <a:prstDash val="solid"/>
          </a:ln>
        </p:spPr>
      </p:sp>
      <p:sp>
        <p:nvSpPr>
          <p:cNvPr id="10" name="Text 8"/>
          <p:cNvSpPr/>
          <p:nvPr/>
        </p:nvSpPr>
        <p:spPr>
          <a:xfrm>
            <a:off x="548640" y="1152144"/>
            <a:ext cx="11155680" cy="877824"/>
          </a:xfrm>
          <a:prstGeom prst="rect">
            <a:avLst/>
          </a:prstGeom>
          <a:noFill/>
          <a:ln/>
        </p:spPr>
        <p:txBody>
          <a:bodyPr wrap="square" lIns="0" tIns="0" rIns="0" bIns="0" rtlCol="0" anchor="ctr"/>
          <a:lstStyle/>
          <a:p>
            <a:pPr indent="0" marL="0">
              <a:lnSpc>
                <a:spcPct val="150000"/>
              </a:lnSpc>
              <a:buNone/>
            </a:pPr>
            <a:r>
              <a:rPr lang="en-US" sz="1150" b="1" dirty="0">
                <a:solidFill>
                  <a:srgbClr val="1E40AF"/>
                </a:solidFill>
                <a:latin typeface="Calibri" pitchFamily="34" charset="0"/>
                <a:ea typeface="Calibri" pitchFamily="34" charset="-122"/>
                <a:cs typeface="Calibri" pitchFamily="34" charset="-120"/>
              </a:rPr>
              <a:t>Fadi Halaweh</a:t>
            </a:r>
            <a:pPr indent="0" marL="0">
              <a:lnSpc>
                <a:spcPct val="150000"/>
              </a:lnSpc>
              <a:buNone/>
            </a:pPr>
            <a:r>
              <a:rPr lang="en-US" sz="1150" dirty="0">
                <a:solidFill>
                  <a:srgbClr val="0F172A"/>
                </a:solidFill>
                <a:latin typeface="Calibri" pitchFamily="34" charset="0"/>
                <a:ea typeface="Calibri" pitchFamily="34" charset="-122"/>
                <a:cs typeface="Calibri" pitchFamily="34" charset="-120"/>
              </a:rPr>
              <a:t>, 41-year-old male, presents at Al-Nour GP Clinic with chest pain radiating to the left arm (local code: </a:t>
            </a:r>
            <a:pPr indent="0" marL="0">
              <a:lnSpc>
                <a:spcPct val="150000"/>
              </a:lnSpc>
              <a:buNone/>
            </a:pPr>
            <a:r>
              <a:rPr lang="en-US" sz="1150" b="1" dirty="0">
                <a:solidFill>
                  <a:srgbClr val="D97706"/>
                </a:solidFill>
                <a:latin typeface="Calibri" pitchFamily="34" charset="0"/>
                <a:ea typeface="Calibri" pitchFamily="34" charset="-122"/>
                <a:cs typeface="Calibri" pitchFamily="34" charset="-120"/>
              </a:rPr>
              <a:t>CP-05</a:t>
            </a:r>
            <a:pPr indent="0" marL="0">
              <a:lnSpc>
                <a:spcPct val="150000"/>
              </a:lnSpc>
              <a:buNone/>
            </a:pPr>
            <a:r>
              <a:rPr lang="en-US" sz="1150" dirty="0">
                <a:solidFill>
                  <a:srgbClr val="0F172A"/>
                </a:solidFill>
                <a:latin typeface="Calibri" pitchFamily="34" charset="0"/>
                <a:ea typeface="Calibri" pitchFamily="34" charset="-122"/>
                <a:cs typeface="Calibri" pitchFamily="34" charset="-120"/>
              </a:rPr>
              <a:t>). His GP refers him immediately to the Hospital Emergency Department. The ED orders urgent cardiac labs and imaging, then prescribes medication. Each handoff requires data exchange between systems using different standards and terminologies.</a:t>
            </a:r>
            <a:endParaRPr lang="en-US" sz="1150" dirty="0"/>
          </a:p>
        </p:txBody>
      </p:sp>
      <p:sp>
        <p:nvSpPr>
          <p:cNvPr id="11" name="Shape 9"/>
          <p:cNvSpPr/>
          <p:nvPr/>
        </p:nvSpPr>
        <p:spPr>
          <a:xfrm>
            <a:off x="365760" y="2231136"/>
            <a:ext cx="2157984" cy="22860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12" name="Shape 10"/>
          <p:cNvSpPr/>
          <p:nvPr/>
        </p:nvSpPr>
        <p:spPr>
          <a:xfrm>
            <a:off x="365760" y="2231136"/>
            <a:ext cx="2157984" cy="457200"/>
          </a:xfrm>
          <a:prstGeom prst="rect">
            <a:avLst/>
          </a:prstGeom>
          <a:solidFill>
            <a:srgbClr val="1E40AF"/>
          </a:solidFill>
          <a:ln w="12700">
            <a:solidFill>
              <a:srgbClr val="1E40AF"/>
            </a:solidFill>
            <a:prstDash val="solid"/>
          </a:ln>
        </p:spPr>
      </p:sp>
      <p:sp>
        <p:nvSpPr>
          <p:cNvPr id="13" name="Text 11"/>
          <p:cNvSpPr/>
          <p:nvPr/>
        </p:nvSpPr>
        <p:spPr>
          <a:xfrm>
            <a:off x="365760" y="2231136"/>
            <a:ext cx="2157984" cy="45720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GP</a:t>
            </a:r>
            <a:endParaRPr lang="en-US" sz="1000" dirty="0"/>
          </a:p>
        </p:txBody>
      </p:sp>
      <p:sp>
        <p:nvSpPr>
          <p:cNvPr id="14" name="Text 12"/>
          <p:cNvSpPr/>
          <p:nvPr/>
        </p:nvSpPr>
        <p:spPr>
          <a:xfrm>
            <a:off x="438912" y="2761488"/>
            <a:ext cx="2011680" cy="38404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1. GP Clinic</a:t>
            </a:r>
            <a:endParaRPr lang="en-US" sz="1000" dirty="0"/>
          </a:p>
        </p:txBody>
      </p:sp>
      <p:sp>
        <p:nvSpPr>
          <p:cNvPr id="15" name="Text 13"/>
          <p:cNvSpPr/>
          <p:nvPr/>
        </p:nvSpPr>
        <p:spPr>
          <a:xfrm>
            <a:off x="438912" y="3127248"/>
            <a:ext cx="2011680" cy="502920"/>
          </a:xfrm>
          <a:prstGeom prst="rect">
            <a:avLst/>
          </a:prstGeom>
          <a:noFill/>
          <a:ln/>
        </p:spPr>
        <p:txBody>
          <a:bodyPr wrap="square" lIns="0" tIns="0" rIns="0" bIns="0" rtlCol="0" anchor="ctr"/>
          <a:lstStyle/>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Al-Nour Clinic</a:t>
            </a:r>
            <a:endParaRPr lang="en-US" sz="850" dirty="0"/>
          </a:p>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SQLite DB</a:t>
            </a:r>
            <a:endParaRPr lang="en-US" sz="850" dirty="0"/>
          </a:p>
        </p:txBody>
      </p:sp>
      <p:sp>
        <p:nvSpPr>
          <p:cNvPr id="16" name="Shape 14"/>
          <p:cNvSpPr/>
          <p:nvPr/>
        </p:nvSpPr>
        <p:spPr>
          <a:xfrm>
            <a:off x="2487168" y="3218688"/>
            <a:ext cx="109728" cy="27432"/>
          </a:xfrm>
          <a:prstGeom prst="rect">
            <a:avLst/>
          </a:prstGeom>
          <a:solidFill>
            <a:srgbClr val="E2E8F0"/>
          </a:solidFill>
          <a:ln w="12700">
            <a:solidFill>
              <a:srgbClr val="E2E8F0"/>
            </a:solidFill>
            <a:prstDash val="solid"/>
          </a:ln>
        </p:spPr>
      </p:sp>
      <p:sp>
        <p:nvSpPr>
          <p:cNvPr id="17" name="Shape 15"/>
          <p:cNvSpPr/>
          <p:nvPr/>
        </p:nvSpPr>
        <p:spPr>
          <a:xfrm>
            <a:off x="2651760" y="2231136"/>
            <a:ext cx="2157984" cy="22860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18" name="Shape 16"/>
          <p:cNvSpPr/>
          <p:nvPr/>
        </p:nvSpPr>
        <p:spPr>
          <a:xfrm>
            <a:off x="2651760" y="2231136"/>
            <a:ext cx="2157984" cy="457200"/>
          </a:xfrm>
          <a:prstGeom prst="rect">
            <a:avLst/>
          </a:prstGeom>
          <a:solidFill>
            <a:srgbClr val="7C3AED"/>
          </a:solidFill>
          <a:ln w="12700">
            <a:solidFill>
              <a:srgbClr val="7C3AED"/>
            </a:solidFill>
            <a:prstDash val="solid"/>
          </a:ln>
        </p:spPr>
      </p:sp>
      <p:sp>
        <p:nvSpPr>
          <p:cNvPr id="19" name="Text 17"/>
          <p:cNvSpPr/>
          <p:nvPr/>
        </p:nvSpPr>
        <p:spPr>
          <a:xfrm>
            <a:off x="2651760" y="2231136"/>
            <a:ext cx="2157984" cy="45720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ED</a:t>
            </a:r>
            <a:endParaRPr lang="en-US" sz="1000" dirty="0"/>
          </a:p>
        </p:txBody>
      </p:sp>
      <p:sp>
        <p:nvSpPr>
          <p:cNvPr id="20" name="Text 18"/>
          <p:cNvSpPr/>
          <p:nvPr/>
        </p:nvSpPr>
        <p:spPr>
          <a:xfrm>
            <a:off x="2724912" y="2761488"/>
            <a:ext cx="2011680" cy="38404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2. Hospital ED</a:t>
            </a:r>
            <a:endParaRPr lang="en-US" sz="1000" dirty="0"/>
          </a:p>
        </p:txBody>
      </p:sp>
      <p:sp>
        <p:nvSpPr>
          <p:cNvPr id="21" name="Text 19"/>
          <p:cNvSpPr/>
          <p:nvPr/>
        </p:nvSpPr>
        <p:spPr>
          <a:xfrm>
            <a:off x="2724912" y="3127248"/>
            <a:ext cx="2011680" cy="502920"/>
          </a:xfrm>
          <a:prstGeom prst="rect">
            <a:avLst/>
          </a:prstGeom>
          <a:noFill/>
          <a:ln/>
        </p:spPr>
        <p:txBody>
          <a:bodyPr wrap="square" lIns="0" tIns="0" rIns="0" bIns="0" rtlCol="0" anchor="ctr"/>
          <a:lstStyle/>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City Hospital</a:t>
            </a:r>
            <a:endParaRPr lang="en-US" sz="850" dirty="0"/>
          </a:p>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SQLite DB</a:t>
            </a:r>
            <a:endParaRPr lang="en-US" sz="850" dirty="0"/>
          </a:p>
        </p:txBody>
      </p:sp>
      <p:sp>
        <p:nvSpPr>
          <p:cNvPr id="22" name="Shape 20"/>
          <p:cNvSpPr/>
          <p:nvPr/>
        </p:nvSpPr>
        <p:spPr>
          <a:xfrm>
            <a:off x="4773168" y="3218688"/>
            <a:ext cx="109728" cy="27432"/>
          </a:xfrm>
          <a:prstGeom prst="rect">
            <a:avLst/>
          </a:prstGeom>
          <a:solidFill>
            <a:srgbClr val="E2E8F0"/>
          </a:solidFill>
          <a:ln w="12700">
            <a:solidFill>
              <a:srgbClr val="E2E8F0"/>
            </a:solidFill>
            <a:prstDash val="solid"/>
          </a:ln>
        </p:spPr>
      </p:sp>
      <p:sp>
        <p:nvSpPr>
          <p:cNvPr id="23" name="Shape 21"/>
          <p:cNvSpPr/>
          <p:nvPr/>
        </p:nvSpPr>
        <p:spPr>
          <a:xfrm>
            <a:off x="4937760" y="2231136"/>
            <a:ext cx="2157984" cy="22860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24" name="Shape 22"/>
          <p:cNvSpPr/>
          <p:nvPr/>
        </p:nvSpPr>
        <p:spPr>
          <a:xfrm>
            <a:off x="4937760" y="2231136"/>
            <a:ext cx="2157984" cy="457200"/>
          </a:xfrm>
          <a:prstGeom prst="rect">
            <a:avLst/>
          </a:prstGeom>
          <a:solidFill>
            <a:srgbClr val="0D9488"/>
          </a:solidFill>
          <a:ln w="12700">
            <a:solidFill>
              <a:srgbClr val="0D9488"/>
            </a:solidFill>
            <a:prstDash val="solid"/>
          </a:ln>
        </p:spPr>
      </p:sp>
      <p:sp>
        <p:nvSpPr>
          <p:cNvPr id="25" name="Text 23"/>
          <p:cNvSpPr/>
          <p:nvPr/>
        </p:nvSpPr>
        <p:spPr>
          <a:xfrm>
            <a:off x="4937760" y="2231136"/>
            <a:ext cx="2157984" cy="45720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LAB</a:t>
            </a:r>
            <a:endParaRPr lang="en-US" sz="1000" dirty="0"/>
          </a:p>
        </p:txBody>
      </p:sp>
      <p:sp>
        <p:nvSpPr>
          <p:cNvPr id="26" name="Text 24"/>
          <p:cNvSpPr/>
          <p:nvPr/>
        </p:nvSpPr>
        <p:spPr>
          <a:xfrm>
            <a:off x="5010912" y="2761488"/>
            <a:ext cx="2011680" cy="38404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3. Laboratory</a:t>
            </a:r>
            <a:endParaRPr lang="en-US" sz="1000" dirty="0"/>
          </a:p>
        </p:txBody>
      </p:sp>
      <p:sp>
        <p:nvSpPr>
          <p:cNvPr id="27" name="Text 25"/>
          <p:cNvSpPr/>
          <p:nvPr/>
        </p:nvSpPr>
        <p:spPr>
          <a:xfrm>
            <a:off x="5010912" y="3127248"/>
            <a:ext cx="2011680" cy="502920"/>
          </a:xfrm>
          <a:prstGeom prst="rect">
            <a:avLst/>
          </a:prstGeom>
          <a:noFill/>
          <a:ln/>
        </p:spPr>
        <p:txBody>
          <a:bodyPr wrap="square" lIns="0" tIns="0" rIns="0" bIns="0" rtlCol="0" anchor="ctr"/>
          <a:lstStyle/>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Central Lab</a:t>
            </a:r>
            <a:endParaRPr lang="en-US" sz="850" dirty="0"/>
          </a:p>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SQLite DB</a:t>
            </a:r>
            <a:endParaRPr lang="en-US" sz="850" dirty="0"/>
          </a:p>
        </p:txBody>
      </p:sp>
      <p:sp>
        <p:nvSpPr>
          <p:cNvPr id="28" name="Shape 26"/>
          <p:cNvSpPr/>
          <p:nvPr/>
        </p:nvSpPr>
        <p:spPr>
          <a:xfrm>
            <a:off x="7059168" y="3218688"/>
            <a:ext cx="109728" cy="27432"/>
          </a:xfrm>
          <a:prstGeom prst="rect">
            <a:avLst/>
          </a:prstGeom>
          <a:solidFill>
            <a:srgbClr val="E2E8F0"/>
          </a:solidFill>
          <a:ln w="12700">
            <a:solidFill>
              <a:srgbClr val="E2E8F0"/>
            </a:solidFill>
            <a:prstDash val="solid"/>
          </a:ln>
        </p:spPr>
      </p:sp>
      <p:sp>
        <p:nvSpPr>
          <p:cNvPr id="29" name="Shape 27"/>
          <p:cNvSpPr/>
          <p:nvPr/>
        </p:nvSpPr>
        <p:spPr>
          <a:xfrm>
            <a:off x="7223760" y="2231136"/>
            <a:ext cx="2157984" cy="22860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30" name="Shape 28"/>
          <p:cNvSpPr/>
          <p:nvPr/>
        </p:nvSpPr>
        <p:spPr>
          <a:xfrm>
            <a:off x="7223760" y="2231136"/>
            <a:ext cx="2157984" cy="457200"/>
          </a:xfrm>
          <a:prstGeom prst="rect">
            <a:avLst/>
          </a:prstGeom>
          <a:solidFill>
            <a:srgbClr val="EA580C"/>
          </a:solidFill>
          <a:ln w="12700">
            <a:solidFill>
              <a:srgbClr val="EA580C"/>
            </a:solidFill>
            <a:prstDash val="solid"/>
          </a:ln>
        </p:spPr>
      </p:sp>
      <p:sp>
        <p:nvSpPr>
          <p:cNvPr id="31" name="Text 29"/>
          <p:cNvSpPr/>
          <p:nvPr/>
        </p:nvSpPr>
        <p:spPr>
          <a:xfrm>
            <a:off x="7223760" y="2231136"/>
            <a:ext cx="2157984" cy="45720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RAD</a:t>
            </a:r>
            <a:endParaRPr lang="en-US" sz="1000" dirty="0"/>
          </a:p>
        </p:txBody>
      </p:sp>
      <p:sp>
        <p:nvSpPr>
          <p:cNvPr id="32" name="Text 30"/>
          <p:cNvSpPr/>
          <p:nvPr/>
        </p:nvSpPr>
        <p:spPr>
          <a:xfrm>
            <a:off x="7296912" y="2761488"/>
            <a:ext cx="2011680" cy="38404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4. Radiology</a:t>
            </a:r>
            <a:endParaRPr lang="en-US" sz="1000" dirty="0"/>
          </a:p>
        </p:txBody>
      </p:sp>
      <p:sp>
        <p:nvSpPr>
          <p:cNvPr id="33" name="Text 31"/>
          <p:cNvSpPr/>
          <p:nvPr/>
        </p:nvSpPr>
        <p:spPr>
          <a:xfrm>
            <a:off x="7296912" y="3127248"/>
            <a:ext cx="2011680" cy="502920"/>
          </a:xfrm>
          <a:prstGeom prst="rect">
            <a:avLst/>
          </a:prstGeom>
          <a:noFill/>
          <a:ln/>
        </p:spPr>
        <p:txBody>
          <a:bodyPr wrap="square" lIns="0" tIns="0" rIns="0" bIns="0" rtlCol="0" anchor="ctr"/>
          <a:lstStyle/>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Imaging Centre</a:t>
            </a:r>
            <a:endParaRPr lang="en-US" sz="850" dirty="0"/>
          </a:p>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SQLite DB</a:t>
            </a:r>
            <a:endParaRPr lang="en-US" sz="850" dirty="0"/>
          </a:p>
        </p:txBody>
      </p:sp>
      <p:sp>
        <p:nvSpPr>
          <p:cNvPr id="34" name="Shape 32"/>
          <p:cNvSpPr/>
          <p:nvPr/>
        </p:nvSpPr>
        <p:spPr>
          <a:xfrm>
            <a:off x="9345168" y="3218688"/>
            <a:ext cx="109728" cy="27432"/>
          </a:xfrm>
          <a:prstGeom prst="rect">
            <a:avLst/>
          </a:prstGeom>
          <a:solidFill>
            <a:srgbClr val="E2E8F0"/>
          </a:solidFill>
          <a:ln w="12700">
            <a:solidFill>
              <a:srgbClr val="E2E8F0"/>
            </a:solidFill>
            <a:prstDash val="solid"/>
          </a:ln>
        </p:spPr>
      </p:sp>
      <p:sp>
        <p:nvSpPr>
          <p:cNvPr id="35" name="Shape 33"/>
          <p:cNvSpPr/>
          <p:nvPr/>
        </p:nvSpPr>
        <p:spPr>
          <a:xfrm>
            <a:off x="9509760" y="2231136"/>
            <a:ext cx="2157984" cy="228600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36" name="Shape 34"/>
          <p:cNvSpPr/>
          <p:nvPr/>
        </p:nvSpPr>
        <p:spPr>
          <a:xfrm>
            <a:off x="9509760" y="2231136"/>
            <a:ext cx="2157984" cy="457200"/>
          </a:xfrm>
          <a:prstGeom prst="rect">
            <a:avLst/>
          </a:prstGeom>
          <a:solidFill>
            <a:srgbClr val="059669"/>
          </a:solidFill>
          <a:ln w="12700">
            <a:solidFill>
              <a:srgbClr val="059669"/>
            </a:solidFill>
            <a:prstDash val="solid"/>
          </a:ln>
        </p:spPr>
      </p:sp>
      <p:sp>
        <p:nvSpPr>
          <p:cNvPr id="37" name="Text 35"/>
          <p:cNvSpPr/>
          <p:nvPr/>
        </p:nvSpPr>
        <p:spPr>
          <a:xfrm>
            <a:off x="9509760" y="2231136"/>
            <a:ext cx="2157984" cy="45720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RX</a:t>
            </a:r>
            <a:endParaRPr lang="en-US" sz="1000" dirty="0"/>
          </a:p>
        </p:txBody>
      </p:sp>
      <p:sp>
        <p:nvSpPr>
          <p:cNvPr id="38" name="Text 36"/>
          <p:cNvSpPr/>
          <p:nvPr/>
        </p:nvSpPr>
        <p:spPr>
          <a:xfrm>
            <a:off x="9582912" y="2761488"/>
            <a:ext cx="2011680" cy="384048"/>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5. Pharmacy</a:t>
            </a:r>
            <a:endParaRPr lang="en-US" sz="1000" dirty="0"/>
          </a:p>
        </p:txBody>
      </p:sp>
      <p:sp>
        <p:nvSpPr>
          <p:cNvPr id="39" name="Text 37"/>
          <p:cNvSpPr/>
          <p:nvPr/>
        </p:nvSpPr>
        <p:spPr>
          <a:xfrm>
            <a:off x="9582912" y="3127248"/>
            <a:ext cx="2011680" cy="502920"/>
          </a:xfrm>
          <a:prstGeom prst="rect">
            <a:avLst/>
          </a:prstGeom>
          <a:noFill/>
          <a:ln/>
        </p:spPr>
        <p:txBody>
          <a:bodyPr wrap="square" lIns="0" tIns="0" rIns="0" bIns="0" rtlCol="0" anchor="ctr"/>
          <a:lstStyle/>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City Pharmacy</a:t>
            </a:r>
            <a:endParaRPr lang="en-US" sz="850" dirty="0"/>
          </a:p>
          <a:p>
            <a:pPr algn="ctr" indent="0" marL="0">
              <a:lnSpc>
                <a:spcPct val="130000"/>
              </a:lnSpc>
              <a:buNone/>
            </a:pPr>
            <a:r>
              <a:rPr lang="en-US" sz="850" dirty="0">
                <a:solidFill>
                  <a:srgbClr val="475569"/>
                </a:solidFill>
                <a:latin typeface="Calibri" pitchFamily="34" charset="0"/>
                <a:ea typeface="Calibri" pitchFamily="34" charset="-122"/>
                <a:cs typeface="Calibri" pitchFamily="34" charset="-120"/>
              </a:rPr>
              <a:t>SQLite DB</a:t>
            </a:r>
            <a:endParaRPr lang="en-US" sz="850" dirty="0"/>
          </a:p>
        </p:txBody>
      </p:sp>
      <p:sp>
        <p:nvSpPr>
          <p:cNvPr id="40" name="Shape 38"/>
          <p:cNvSpPr/>
          <p:nvPr/>
        </p:nvSpPr>
        <p:spPr>
          <a:xfrm>
            <a:off x="365760" y="4663440"/>
            <a:ext cx="3794760" cy="1005840"/>
          </a:xfrm>
          <a:prstGeom prst="rect">
            <a:avLst/>
          </a:prstGeom>
          <a:solidFill>
            <a:srgbClr val="DBEAFE"/>
          </a:solidFill>
          <a:ln w="6350">
            <a:solidFill>
              <a:srgbClr val="DBEAFE"/>
            </a:solidFill>
            <a:prstDash val="solid"/>
          </a:ln>
          <a:effectLst>
            <a:outerShdw sx="100000" sy="100000" kx="0" ky="0" algn="bl" rotWithShape="0" blurRad="76200" dist="25400" dir="8100000">
              <a:srgbClr val="000000">
                <a:alpha val="8000"/>
              </a:srgbClr>
            </a:outerShdw>
          </a:effectLst>
        </p:spPr>
      </p:sp>
      <p:sp>
        <p:nvSpPr>
          <p:cNvPr id="41" name="Text 39"/>
          <p:cNvSpPr/>
          <p:nvPr/>
        </p:nvSpPr>
        <p:spPr>
          <a:xfrm>
            <a:off x="502920" y="4736592"/>
            <a:ext cx="3520440" cy="292608"/>
          </a:xfrm>
          <a:prstGeom prst="rect">
            <a:avLst/>
          </a:prstGeom>
          <a:noFill/>
          <a:ln/>
        </p:spPr>
        <p:txBody>
          <a:bodyPr wrap="square" lIns="0" tIns="0" rIns="0" bIns="0" rtlCol="0" anchor="ctr"/>
          <a:lstStyle/>
          <a:p>
            <a:pPr indent="0" marL="0">
              <a:buNone/>
            </a:pPr>
            <a:r>
              <a:rPr lang="en-US" sz="1100" b="1" dirty="0">
                <a:solidFill>
                  <a:srgbClr val="1E40AF"/>
                </a:solidFill>
                <a:latin typeface="Calibri" pitchFamily="34" charset="0"/>
                <a:ea typeface="Calibri" pitchFamily="34" charset="-122"/>
                <a:cs typeface="Calibri" pitchFamily="34" charset="-120"/>
              </a:rPr>
              <a:t>Structural Interoperability</a:t>
            </a:r>
            <a:endParaRPr lang="en-US" sz="1100" dirty="0"/>
          </a:p>
        </p:txBody>
      </p:sp>
      <p:sp>
        <p:nvSpPr>
          <p:cNvPr id="42" name="Text 40"/>
          <p:cNvSpPr/>
          <p:nvPr/>
        </p:nvSpPr>
        <p:spPr>
          <a:xfrm>
            <a:off x="502920" y="5029200"/>
            <a:ext cx="3520440" cy="548640"/>
          </a:xfrm>
          <a:prstGeom prst="rect">
            <a:avLst/>
          </a:prstGeom>
          <a:noFill/>
          <a:ln/>
        </p:spPr>
        <p:txBody>
          <a:bodyPr wrap="square" lIns="0" tIns="0" rIns="0" bIns="0" rtlCol="0" anchor="ctr"/>
          <a:lstStyle/>
          <a:p>
            <a:pPr indent="0" marL="0">
              <a:lnSpc>
                <a:spcPct val="135000"/>
              </a:lnSpc>
              <a:buNone/>
            </a:pPr>
            <a:r>
              <a:rPr lang="en-US" sz="950" dirty="0">
                <a:solidFill>
                  <a:srgbClr val="0F172A"/>
                </a:solidFill>
                <a:latin typeface="Calibri" pitchFamily="34" charset="0"/>
                <a:ea typeface="Calibri" pitchFamily="34" charset="-122"/>
                <a:cs typeface="Calibri" pitchFamily="34" charset="-120"/>
              </a:rPr>
              <a:t>Different data formats converted</a:t>
            </a:r>
            <a:endParaRPr lang="en-US" sz="950" dirty="0"/>
          </a:p>
          <a:p>
            <a:pPr indent="0" marL="0">
              <a:lnSpc>
                <a:spcPct val="135000"/>
              </a:lnSpc>
              <a:buNone/>
            </a:pPr>
            <a:r>
              <a:rPr lang="en-US" sz="950" dirty="0">
                <a:solidFill>
                  <a:srgbClr val="0F172A"/>
                </a:solidFill>
                <a:latin typeface="Calibri" pitchFamily="34" charset="0"/>
                <a:ea typeface="Calibri" pitchFamily="34" charset="-122"/>
                <a:cs typeface="Calibri" pitchFamily="34" charset="-120"/>
              </a:rPr>
              <a:t>(CSV → HL7, JSON → FHIR, etc.)</a:t>
            </a:r>
            <a:endParaRPr lang="en-US" sz="950" dirty="0"/>
          </a:p>
        </p:txBody>
      </p:sp>
      <p:sp>
        <p:nvSpPr>
          <p:cNvPr id="43" name="Shape 41"/>
          <p:cNvSpPr/>
          <p:nvPr/>
        </p:nvSpPr>
        <p:spPr>
          <a:xfrm>
            <a:off x="4297680" y="4663440"/>
            <a:ext cx="3794760" cy="1005840"/>
          </a:xfrm>
          <a:prstGeom prst="rect">
            <a:avLst/>
          </a:prstGeom>
          <a:solidFill>
            <a:srgbClr val="D1FAE5"/>
          </a:solidFill>
          <a:ln w="6350">
            <a:solidFill>
              <a:srgbClr val="D1FAE5"/>
            </a:solidFill>
            <a:prstDash val="solid"/>
          </a:ln>
          <a:effectLst>
            <a:outerShdw sx="100000" sy="100000" kx="0" ky="0" algn="bl" rotWithShape="0" blurRad="76200" dist="25400" dir="8100000">
              <a:srgbClr val="000000">
                <a:alpha val="8000"/>
              </a:srgbClr>
            </a:outerShdw>
          </a:effectLst>
        </p:spPr>
      </p:sp>
      <p:sp>
        <p:nvSpPr>
          <p:cNvPr id="44" name="Text 42"/>
          <p:cNvSpPr/>
          <p:nvPr/>
        </p:nvSpPr>
        <p:spPr>
          <a:xfrm>
            <a:off x="4434840" y="4736592"/>
            <a:ext cx="3520440" cy="292608"/>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Syntactic Interoperability</a:t>
            </a:r>
            <a:endParaRPr lang="en-US" sz="1100" dirty="0"/>
          </a:p>
        </p:txBody>
      </p:sp>
      <p:sp>
        <p:nvSpPr>
          <p:cNvPr id="45" name="Text 43"/>
          <p:cNvSpPr/>
          <p:nvPr/>
        </p:nvSpPr>
        <p:spPr>
          <a:xfrm>
            <a:off x="4434840" y="5029200"/>
            <a:ext cx="3520440" cy="548640"/>
          </a:xfrm>
          <a:prstGeom prst="rect">
            <a:avLst/>
          </a:prstGeom>
          <a:noFill/>
          <a:ln/>
        </p:spPr>
        <p:txBody>
          <a:bodyPr wrap="square" lIns="0" tIns="0" rIns="0" bIns="0" rtlCol="0" anchor="ctr"/>
          <a:lstStyle/>
          <a:p>
            <a:pPr indent="0" marL="0">
              <a:lnSpc>
                <a:spcPct val="135000"/>
              </a:lnSpc>
              <a:buNone/>
            </a:pPr>
            <a:r>
              <a:rPr lang="en-US" sz="950" dirty="0">
                <a:solidFill>
                  <a:srgbClr val="0F172A"/>
                </a:solidFill>
                <a:latin typeface="Calibri" pitchFamily="34" charset="0"/>
                <a:ea typeface="Calibri" pitchFamily="34" charset="-122"/>
                <a:cs typeface="Calibri" pitchFamily="34" charset="-120"/>
              </a:rPr>
              <a:t>Encoding &amp; structure rules</a:t>
            </a:r>
            <a:endParaRPr lang="en-US" sz="950" dirty="0"/>
          </a:p>
          <a:p>
            <a:pPr indent="0" marL="0">
              <a:lnSpc>
                <a:spcPct val="135000"/>
              </a:lnSpc>
              <a:buNone/>
            </a:pPr>
            <a:r>
              <a:rPr lang="en-US" sz="950" dirty="0">
                <a:solidFill>
                  <a:srgbClr val="0F172A"/>
                </a:solidFill>
                <a:latin typeface="Calibri" pitchFamily="34" charset="0"/>
                <a:ea typeface="Calibri" pitchFamily="34" charset="-122"/>
                <a:cs typeface="Calibri" pitchFamily="34" charset="-120"/>
              </a:rPr>
              <a:t>(HL7 v2 pipes, FHIR JSON, DICOM tags)</a:t>
            </a:r>
            <a:endParaRPr lang="en-US" sz="950" dirty="0"/>
          </a:p>
        </p:txBody>
      </p:sp>
      <p:sp>
        <p:nvSpPr>
          <p:cNvPr id="46" name="Shape 44"/>
          <p:cNvSpPr/>
          <p:nvPr/>
        </p:nvSpPr>
        <p:spPr>
          <a:xfrm>
            <a:off x="8229600" y="4663440"/>
            <a:ext cx="3794760" cy="1005840"/>
          </a:xfrm>
          <a:prstGeom prst="rect">
            <a:avLst/>
          </a:prstGeom>
          <a:solidFill>
            <a:srgbClr val="FEF3C7"/>
          </a:solidFill>
          <a:ln w="6350">
            <a:solidFill>
              <a:srgbClr val="FEF3C7"/>
            </a:solidFill>
            <a:prstDash val="solid"/>
          </a:ln>
          <a:effectLst>
            <a:outerShdw sx="100000" sy="100000" kx="0" ky="0" algn="bl" rotWithShape="0" blurRad="76200" dist="25400" dir="8100000">
              <a:srgbClr val="000000">
                <a:alpha val="8000"/>
              </a:srgbClr>
            </a:outerShdw>
          </a:effectLst>
        </p:spPr>
      </p:sp>
      <p:sp>
        <p:nvSpPr>
          <p:cNvPr id="47" name="Text 45"/>
          <p:cNvSpPr/>
          <p:nvPr/>
        </p:nvSpPr>
        <p:spPr>
          <a:xfrm>
            <a:off x="8366760" y="4736592"/>
            <a:ext cx="3520440" cy="292608"/>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Semantic Interoperability</a:t>
            </a:r>
            <a:endParaRPr lang="en-US" sz="1100" dirty="0"/>
          </a:p>
        </p:txBody>
      </p:sp>
      <p:sp>
        <p:nvSpPr>
          <p:cNvPr id="48" name="Text 46"/>
          <p:cNvSpPr/>
          <p:nvPr/>
        </p:nvSpPr>
        <p:spPr>
          <a:xfrm>
            <a:off x="8366760" y="5029200"/>
            <a:ext cx="3520440" cy="548640"/>
          </a:xfrm>
          <a:prstGeom prst="rect">
            <a:avLst/>
          </a:prstGeom>
          <a:noFill/>
          <a:ln/>
        </p:spPr>
        <p:txBody>
          <a:bodyPr wrap="square" lIns="0" tIns="0" rIns="0" bIns="0" rtlCol="0" anchor="ctr"/>
          <a:lstStyle/>
          <a:p>
            <a:pPr indent="0" marL="0">
              <a:lnSpc>
                <a:spcPct val="135000"/>
              </a:lnSpc>
              <a:buNone/>
            </a:pPr>
            <a:r>
              <a:rPr lang="en-US" sz="950" dirty="0">
                <a:solidFill>
                  <a:srgbClr val="0F172A"/>
                </a:solidFill>
                <a:latin typeface="Calibri" pitchFamily="34" charset="0"/>
                <a:ea typeface="Calibri" pitchFamily="34" charset="-122"/>
                <a:cs typeface="Calibri" pitchFamily="34" charset="-120"/>
              </a:rPr>
              <a:t>Terminology mapping</a:t>
            </a:r>
            <a:endParaRPr lang="en-US" sz="950" dirty="0"/>
          </a:p>
          <a:p>
            <a:pPr indent="0" marL="0">
              <a:lnSpc>
                <a:spcPct val="135000"/>
              </a:lnSpc>
              <a:buNone/>
            </a:pPr>
            <a:r>
              <a:rPr lang="en-US" sz="950" dirty="0">
                <a:solidFill>
                  <a:srgbClr val="0F172A"/>
                </a:solidFill>
                <a:latin typeface="Calibri" pitchFamily="34" charset="0"/>
                <a:ea typeface="Calibri" pitchFamily="34" charset="-122"/>
                <a:cs typeface="Calibri" pitchFamily="34" charset="-120"/>
              </a:rPr>
              <a:t>(ICD-10, LOINC, SNOMED CT, RxNorm)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D9488"/>
          </a:solidFill>
          <a:ln w="12700">
            <a:solidFill>
              <a:srgbClr val="0D9488"/>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Data Exchange Timeline</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5 interoperability points — source, destination, and data type at each</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365760" y="1115568"/>
            <a:ext cx="11430000" cy="8229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9" name="Shape 7"/>
          <p:cNvSpPr/>
          <p:nvPr/>
        </p:nvSpPr>
        <p:spPr>
          <a:xfrm>
            <a:off x="365760" y="1115568"/>
            <a:ext cx="54864" cy="822960"/>
          </a:xfrm>
          <a:prstGeom prst="rect">
            <a:avLst/>
          </a:prstGeom>
          <a:solidFill>
            <a:srgbClr val="1E40AF"/>
          </a:solidFill>
          <a:ln w="12700">
            <a:solidFill>
              <a:srgbClr val="1E40AF"/>
            </a:solidFill>
            <a:prstDash val="solid"/>
          </a:ln>
        </p:spPr>
      </p:sp>
      <p:sp>
        <p:nvSpPr>
          <p:cNvPr id="10" name="Shape 8"/>
          <p:cNvSpPr/>
          <p:nvPr/>
        </p:nvSpPr>
        <p:spPr>
          <a:xfrm>
            <a:off x="548640" y="1362456"/>
            <a:ext cx="329184" cy="329184"/>
          </a:xfrm>
          <a:prstGeom prst="ellipse">
            <a:avLst/>
          </a:prstGeom>
          <a:solidFill>
            <a:srgbClr val="1E40AF"/>
          </a:solidFill>
          <a:ln w="12700">
            <a:solidFill>
              <a:srgbClr val="1E40AF"/>
            </a:solidFill>
            <a:prstDash val="solid"/>
          </a:ln>
        </p:spPr>
      </p:sp>
      <p:sp>
        <p:nvSpPr>
          <p:cNvPr id="11" name="Text 9"/>
          <p:cNvSpPr/>
          <p:nvPr/>
        </p:nvSpPr>
        <p:spPr>
          <a:xfrm>
            <a:off x="548640" y="13624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1024128" y="1225296"/>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GP Clinic</a:t>
            </a:r>
            <a:endParaRPr lang="en-US" sz="1100" dirty="0"/>
          </a:p>
        </p:txBody>
      </p:sp>
      <p:sp>
        <p:nvSpPr>
          <p:cNvPr id="13" name="Text 11"/>
          <p:cNvSpPr/>
          <p:nvPr/>
        </p:nvSpPr>
        <p:spPr>
          <a:xfrm>
            <a:off x="3035808" y="1225296"/>
            <a:ext cx="274320" cy="274320"/>
          </a:xfrm>
          <a:prstGeom prst="rect">
            <a:avLst/>
          </a:prstGeom>
          <a:noFill/>
          <a:ln/>
        </p:spPr>
        <p:txBody>
          <a:bodyPr wrap="square" lIns="0" tIns="0" rIns="0" bIns="0" rtlCol="0" anchor="ctr"/>
          <a:lstStyle/>
          <a:p>
            <a:pPr algn="ctr" indent="0" marL="0">
              <a:buNone/>
            </a:pPr>
            <a:r>
              <a:rPr lang="en-US" sz="1300" dirty="0">
                <a:solidFill>
                  <a:srgbClr val="1E40AF"/>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3310128" y="1225296"/>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Hospital ED</a:t>
            </a:r>
            <a:endParaRPr lang="en-US" sz="1100" dirty="0"/>
          </a:p>
        </p:txBody>
      </p:sp>
      <p:sp>
        <p:nvSpPr>
          <p:cNvPr id="15" name="Text 13"/>
          <p:cNvSpPr/>
          <p:nvPr/>
        </p:nvSpPr>
        <p:spPr>
          <a:xfrm>
            <a:off x="1024128" y="1591056"/>
            <a:ext cx="420624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Patient demographics + diagnosis</a:t>
            </a:r>
            <a:endParaRPr lang="en-US" sz="950" dirty="0"/>
          </a:p>
        </p:txBody>
      </p:sp>
      <p:sp>
        <p:nvSpPr>
          <p:cNvPr id="16" name="Shape 14"/>
          <p:cNvSpPr/>
          <p:nvPr/>
        </p:nvSpPr>
        <p:spPr>
          <a:xfrm>
            <a:off x="5577840" y="1316736"/>
            <a:ext cx="3108960" cy="329184"/>
          </a:xfrm>
          <a:prstGeom prst="rect">
            <a:avLst/>
          </a:prstGeom>
          <a:solidFill>
            <a:srgbClr val="0F172A"/>
          </a:solidFill>
          <a:ln w="12700">
            <a:solidFill>
              <a:srgbClr val="1E40AF"/>
            </a:solidFill>
            <a:prstDash val="solid"/>
          </a:ln>
        </p:spPr>
      </p:sp>
      <p:sp>
        <p:nvSpPr>
          <p:cNvPr id="17" name="Text 15"/>
          <p:cNvSpPr/>
          <p:nvPr/>
        </p:nvSpPr>
        <p:spPr>
          <a:xfrm>
            <a:off x="5577840" y="1316736"/>
            <a:ext cx="3108960" cy="329184"/>
          </a:xfrm>
          <a:prstGeom prst="rect">
            <a:avLst/>
          </a:prstGeom>
          <a:noFill/>
          <a:ln/>
        </p:spPr>
        <p:txBody>
          <a:bodyPr wrap="square" lIns="0" tIns="0" rIns="0" bIns="0" rtlCol="0" anchor="ctr"/>
          <a:lstStyle/>
          <a:p>
            <a:pPr algn="ctr" indent="0" marL="0">
              <a:buNone/>
            </a:pPr>
            <a:r>
              <a:rPr lang="en-US" sz="950" b="1" dirty="0">
                <a:solidFill>
                  <a:srgbClr val="1E40AF"/>
                </a:solidFill>
                <a:latin typeface="Calibri" pitchFamily="34" charset="0"/>
                <a:ea typeface="Calibri" pitchFamily="34" charset="-122"/>
                <a:cs typeface="Calibri" pitchFamily="34" charset="-120"/>
              </a:rPr>
              <a:t>HL7 v2 ADT^A01</a:t>
            </a:r>
            <a:endParaRPr lang="en-US" sz="950" dirty="0"/>
          </a:p>
        </p:txBody>
      </p:sp>
      <p:sp>
        <p:nvSpPr>
          <p:cNvPr id="18" name="Shape 16"/>
          <p:cNvSpPr/>
          <p:nvPr/>
        </p:nvSpPr>
        <p:spPr>
          <a:xfrm>
            <a:off x="8869680" y="1316736"/>
            <a:ext cx="2743200" cy="329184"/>
          </a:xfrm>
          <a:prstGeom prst="rect">
            <a:avLst/>
          </a:prstGeom>
          <a:solidFill>
            <a:srgbClr val="FEF3C7"/>
          </a:solidFill>
          <a:ln w="12700">
            <a:solidFill>
              <a:srgbClr val="D97706"/>
            </a:solidFill>
            <a:prstDash val="solid"/>
          </a:ln>
        </p:spPr>
      </p:sp>
      <p:sp>
        <p:nvSpPr>
          <p:cNvPr id="19" name="Text 17"/>
          <p:cNvSpPr/>
          <p:nvPr/>
        </p:nvSpPr>
        <p:spPr>
          <a:xfrm>
            <a:off x="8869680" y="1316736"/>
            <a:ext cx="2743200" cy="329184"/>
          </a:xfrm>
          <a:prstGeom prst="rect">
            <a:avLst/>
          </a:prstGeom>
          <a:noFill/>
          <a:ln/>
        </p:spPr>
        <p:txBody>
          <a:bodyPr wrap="square" lIns="0" tIns="0" rIns="0" bIns="0"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ICD-10</a:t>
            </a:r>
            <a:endParaRPr lang="en-US" sz="950" dirty="0"/>
          </a:p>
        </p:txBody>
      </p:sp>
      <p:sp>
        <p:nvSpPr>
          <p:cNvPr id="20" name="Shape 18"/>
          <p:cNvSpPr/>
          <p:nvPr/>
        </p:nvSpPr>
        <p:spPr>
          <a:xfrm>
            <a:off x="365760" y="2011680"/>
            <a:ext cx="11430000" cy="8229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365760" y="2011680"/>
            <a:ext cx="54864" cy="822960"/>
          </a:xfrm>
          <a:prstGeom prst="rect">
            <a:avLst/>
          </a:prstGeom>
          <a:solidFill>
            <a:srgbClr val="7C3AED"/>
          </a:solidFill>
          <a:ln w="12700">
            <a:solidFill>
              <a:srgbClr val="7C3AED"/>
            </a:solidFill>
            <a:prstDash val="solid"/>
          </a:ln>
        </p:spPr>
      </p:sp>
      <p:sp>
        <p:nvSpPr>
          <p:cNvPr id="22" name="Shape 20"/>
          <p:cNvSpPr/>
          <p:nvPr/>
        </p:nvSpPr>
        <p:spPr>
          <a:xfrm>
            <a:off x="548640" y="2258568"/>
            <a:ext cx="329184" cy="329184"/>
          </a:xfrm>
          <a:prstGeom prst="ellipse">
            <a:avLst/>
          </a:prstGeom>
          <a:solidFill>
            <a:srgbClr val="7C3AED"/>
          </a:solidFill>
          <a:ln w="12700">
            <a:solidFill>
              <a:srgbClr val="7C3AED"/>
            </a:solidFill>
            <a:prstDash val="solid"/>
          </a:ln>
        </p:spPr>
      </p:sp>
      <p:sp>
        <p:nvSpPr>
          <p:cNvPr id="23" name="Text 21"/>
          <p:cNvSpPr/>
          <p:nvPr/>
        </p:nvSpPr>
        <p:spPr>
          <a:xfrm>
            <a:off x="548640" y="22585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2"/>
          <p:cNvSpPr/>
          <p:nvPr/>
        </p:nvSpPr>
        <p:spPr>
          <a:xfrm>
            <a:off x="1024128" y="2121408"/>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Hospital ED</a:t>
            </a:r>
            <a:endParaRPr lang="en-US" sz="1100" dirty="0"/>
          </a:p>
        </p:txBody>
      </p:sp>
      <p:sp>
        <p:nvSpPr>
          <p:cNvPr id="25" name="Text 23"/>
          <p:cNvSpPr/>
          <p:nvPr/>
        </p:nvSpPr>
        <p:spPr>
          <a:xfrm>
            <a:off x="3035808" y="2121408"/>
            <a:ext cx="274320" cy="274320"/>
          </a:xfrm>
          <a:prstGeom prst="rect">
            <a:avLst/>
          </a:prstGeom>
          <a:noFill/>
          <a:ln/>
        </p:spPr>
        <p:txBody>
          <a:bodyPr wrap="square" lIns="0" tIns="0" rIns="0" bIns="0" rtlCol="0" anchor="ctr"/>
          <a:lstStyle/>
          <a:p>
            <a:pPr algn="ctr" indent="0" marL="0">
              <a:buNone/>
            </a:pPr>
            <a:r>
              <a:rPr lang="en-US" sz="1300" dirty="0">
                <a:solidFill>
                  <a:srgbClr val="7C3AED"/>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3310128" y="2121408"/>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Laboratory</a:t>
            </a:r>
            <a:endParaRPr lang="en-US" sz="1100" dirty="0"/>
          </a:p>
        </p:txBody>
      </p:sp>
      <p:sp>
        <p:nvSpPr>
          <p:cNvPr id="27" name="Text 25"/>
          <p:cNvSpPr/>
          <p:nvPr/>
        </p:nvSpPr>
        <p:spPr>
          <a:xfrm>
            <a:off x="1024128" y="2487168"/>
            <a:ext cx="420624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Lab order (Troponin, CBC, Lipid panel)</a:t>
            </a:r>
            <a:endParaRPr lang="en-US" sz="950" dirty="0"/>
          </a:p>
        </p:txBody>
      </p:sp>
      <p:sp>
        <p:nvSpPr>
          <p:cNvPr id="28" name="Shape 26"/>
          <p:cNvSpPr/>
          <p:nvPr/>
        </p:nvSpPr>
        <p:spPr>
          <a:xfrm>
            <a:off x="5577840" y="2212848"/>
            <a:ext cx="3108960" cy="329184"/>
          </a:xfrm>
          <a:prstGeom prst="rect">
            <a:avLst/>
          </a:prstGeom>
          <a:solidFill>
            <a:srgbClr val="0F172A"/>
          </a:solidFill>
          <a:ln w="12700">
            <a:solidFill>
              <a:srgbClr val="7C3AED"/>
            </a:solidFill>
            <a:prstDash val="solid"/>
          </a:ln>
        </p:spPr>
      </p:sp>
      <p:sp>
        <p:nvSpPr>
          <p:cNvPr id="29" name="Text 27"/>
          <p:cNvSpPr/>
          <p:nvPr/>
        </p:nvSpPr>
        <p:spPr>
          <a:xfrm>
            <a:off x="5577840" y="2212848"/>
            <a:ext cx="3108960" cy="329184"/>
          </a:xfrm>
          <a:prstGeom prst="rect">
            <a:avLst/>
          </a:prstGeom>
          <a:noFill/>
          <a:ln/>
        </p:spPr>
        <p:txBody>
          <a:bodyPr wrap="square" lIns="0" tIns="0" rIns="0" bIns="0"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HL7 v2 ORM^O01</a:t>
            </a:r>
            <a:endParaRPr lang="en-US" sz="950" dirty="0"/>
          </a:p>
        </p:txBody>
      </p:sp>
      <p:sp>
        <p:nvSpPr>
          <p:cNvPr id="30" name="Shape 28"/>
          <p:cNvSpPr/>
          <p:nvPr/>
        </p:nvSpPr>
        <p:spPr>
          <a:xfrm>
            <a:off x="8869680" y="2212848"/>
            <a:ext cx="2743200" cy="329184"/>
          </a:xfrm>
          <a:prstGeom prst="rect">
            <a:avLst/>
          </a:prstGeom>
          <a:solidFill>
            <a:srgbClr val="FEF3C7"/>
          </a:solidFill>
          <a:ln w="12700">
            <a:solidFill>
              <a:srgbClr val="D97706"/>
            </a:solidFill>
            <a:prstDash val="solid"/>
          </a:ln>
        </p:spPr>
      </p:sp>
      <p:sp>
        <p:nvSpPr>
          <p:cNvPr id="31" name="Text 29"/>
          <p:cNvSpPr/>
          <p:nvPr/>
        </p:nvSpPr>
        <p:spPr>
          <a:xfrm>
            <a:off x="8869680" y="2212848"/>
            <a:ext cx="2743200" cy="329184"/>
          </a:xfrm>
          <a:prstGeom prst="rect">
            <a:avLst/>
          </a:prstGeom>
          <a:noFill/>
          <a:ln/>
        </p:spPr>
        <p:txBody>
          <a:bodyPr wrap="square" lIns="0" tIns="0" rIns="0" bIns="0"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LOINC</a:t>
            </a:r>
            <a:endParaRPr lang="en-US" sz="950" dirty="0"/>
          </a:p>
        </p:txBody>
      </p:sp>
      <p:sp>
        <p:nvSpPr>
          <p:cNvPr id="32" name="Shape 30"/>
          <p:cNvSpPr/>
          <p:nvPr/>
        </p:nvSpPr>
        <p:spPr>
          <a:xfrm>
            <a:off x="365760" y="2907792"/>
            <a:ext cx="11430000" cy="8229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33" name="Shape 31"/>
          <p:cNvSpPr/>
          <p:nvPr/>
        </p:nvSpPr>
        <p:spPr>
          <a:xfrm>
            <a:off x="365760" y="2907792"/>
            <a:ext cx="54864" cy="822960"/>
          </a:xfrm>
          <a:prstGeom prst="rect">
            <a:avLst/>
          </a:prstGeom>
          <a:solidFill>
            <a:srgbClr val="0D9488"/>
          </a:solidFill>
          <a:ln w="12700">
            <a:solidFill>
              <a:srgbClr val="0D9488"/>
            </a:solidFill>
            <a:prstDash val="solid"/>
          </a:ln>
        </p:spPr>
      </p:sp>
      <p:sp>
        <p:nvSpPr>
          <p:cNvPr id="34" name="Shape 32"/>
          <p:cNvSpPr/>
          <p:nvPr/>
        </p:nvSpPr>
        <p:spPr>
          <a:xfrm>
            <a:off x="548640" y="3154680"/>
            <a:ext cx="329184" cy="329184"/>
          </a:xfrm>
          <a:prstGeom prst="ellipse">
            <a:avLst/>
          </a:prstGeom>
          <a:solidFill>
            <a:srgbClr val="0D9488"/>
          </a:solidFill>
          <a:ln w="12700">
            <a:solidFill>
              <a:srgbClr val="0D9488"/>
            </a:solidFill>
            <a:prstDash val="solid"/>
          </a:ln>
        </p:spPr>
      </p:sp>
      <p:sp>
        <p:nvSpPr>
          <p:cNvPr id="35" name="Text 33"/>
          <p:cNvSpPr/>
          <p:nvPr/>
        </p:nvSpPr>
        <p:spPr>
          <a:xfrm>
            <a:off x="548640" y="3154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Text 34"/>
          <p:cNvSpPr/>
          <p:nvPr/>
        </p:nvSpPr>
        <p:spPr>
          <a:xfrm>
            <a:off x="1024128" y="3017520"/>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Laboratory</a:t>
            </a:r>
            <a:endParaRPr lang="en-US" sz="1100" dirty="0"/>
          </a:p>
        </p:txBody>
      </p:sp>
      <p:sp>
        <p:nvSpPr>
          <p:cNvPr id="37" name="Text 35"/>
          <p:cNvSpPr/>
          <p:nvPr/>
        </p:nvSpPr>
        <p:spPr>
          <a:xfrm>
            <a:off x="3035808" y="3017520"/>
            <a:ext cx="274320" cy="274320"/>
          </a:xfrm>
          <a:prstGeom prst="rect">
            <a:avLst/>
          </a:prstGeom>
          <a:noFill/>
          <a:ln/>
        </p:spPr>
        <p:txBody>
          <a:bodyPr wrap="square" lIns="0" tIns="0" rIns="0" bIns="0" rtlCol="0" anchor="ctr"/>
          <a:lstStyle/>
          <a:p>
            <a:pPr algn="ctr" indent="0" marL="0">
              <a:buNone/>
            </a:pPr>
            <a:r>
              <a:rPr lang="en-US" sz="1300" dirty="0">
                <a:solidFill>
                  <a:srgbClr val="0D9488"/>
                </a:solidFill>
                <a:latin typeface="Calibri" pitchFamily="34" charset="0"/>
                <a:ea typeface="Calibri" pitchFamily="34" charset="-122"/>
                <a:cs typeface="Calibri" pitchFamily="34" charset="-120"/>
              </a:rPr>
              <a:t>→</a:t>
            </a:r>
            <a:endParaRPr lang="en-US" sz="1300" dirty="0"/>
          </a:p>
        </p:txBody>
      </p:sp>
      <p:sp>
        <p:nvSpPr>
          <p:cNvPr id="38" name="Text 36"/>
          <p:cNvSpPr/>
          <p:nvPr/>
        </p:nvSpPr>
        <p:spPr>
          <a:xfrm>
            <a:off x="3310128" y="3017520"/>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Hospital ED</a:t>
            </a:r>
            <a:endParaRPr lang="en-US" sz="1100" dirty="0"/>
          </a:p>
        </p:txBody>
      </p:sp>
      <p:sp>
        <p:nvSpPr>
          <p:cNvPr id="39" name="Text 37"/>
          <p:cNvSpPr/>
          <p:nvPr/>
        </p:nvSpPr>
        <p:spPr>
          <a:xfrm>
            <a:off x="1024128" y="3383280"/>
            <a:ext cx="420624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Lab results with flags</a:t>
            </a:r>
            <a:endParaRPr lang="en-US" sz="950" dirty="0"/>
          </a:p>
        </p:txBody>
      </p:sp>
      <p:sp>
        <p:nvSpPr>
          <p:cNvPr id="40" name="Shape 38"/>
          <p:cNvSpPr/>
          <p:nvPr/>
        </p:nvSpPr>
        <p:spPr>
          <a:xfrm>
            <a:off x="5577840" y="3108960"/>
            <a:ext cx="3108960" cy="329184"/>
          </a:xfrm>
          <a:prstGeom prst="rect">
            <a:avLst/>
          </a:prstGeom>
          <a:solidFill>
            <a:srgbClr val="0F172A"/>
          </a:solidFill>
          <a:ln w="12700">
            <a:solidFill>
              <a:srgbClr val="0D9488"/>
            </a:solidFill>
            <a:prstDash val="solid"/>
          </a:ln>
        </p:spPr>
      </p:sp>
      <p:sp>
        <p:nvSpPr>
          <p:cNvPr id="41" name="Text 39"/>
          <p:cNvSpPr/>
          <p:nvPr/>
        </p:nvSpPr>
        <p:spPr>
          <a:xfrm>
            <a:off x="5577840" y="3108960"/>
            <a:ext cx="3108960" cy="329184"/>
          </a:xfrm>
          <a:prstGeom prst="rect">
            <a:avLst/>
          </a:prstGeom>
          <a:noFill/>
          <a:ln/>
        </p:spPr>
        <p:txBody>
          <a:bodyPr wrap="square" lIns="0" tIns="0" rIns="0" bIns="0" rtlCol="0" anchor="ctr"/>
          <a:lstStyle/>
          <a:p>
            <a:pPr algn="ctr" indent="0" marL="0">
              <a:buNone/>
            </a:pPr>
            <a:r>
              <a:rPr lang="en-US" sz="950" b="1" dirty="0">
                <a:solidFill>
                  <a:srgbClr val="0D9488"/>
                </a:solidFill>
                <a:latin typeface="Calibri" pitchFamily="34" charset="0"/>
                <a:ea typeface="Calibri" pitchFamily="34" charset="-122"/>
                <a:cs typeface="Calibri" pitchFamily="34" charset="-120"/>
              </a:rPr>
              <a:t>HL7 v2 ORU^R01</a:t>
            </a:r>
            <a:endParaRPr lang="en-US" sz="950" dirty="0"/>
          </a:p>
        </p:txBody>
      </p:sp>
      <p:sp>
        <p:nvSpPr>
          <p:cNvPr id="42" name="Shape 40"/>
          <p:cNvSpPr/>
          <p:nvPr/>
        </p:nvSpPr>
        <p:spPr>
          <a:xfrm>
            <a:off x="8869680" y="3108960"/>
            <a:ext cx="2743200" cy="329184"/>
          </a:xfrm>
          <a:prstGeom prst="rect">
            <a:avLst/>
          </a:prstGeom>
          <a:solidFill>
            <a:srgbClr val="FEF3C7"/>
          </a:solidFill>
          <a:ln w="12700">
            <a:solidFill>
              <a:srgbClr val="D97706"/>
            </a:solidFill>
            <a:prstDash val="solid"/>
          </a:ln>
        </p:spPr>
      </p:sp>
      <p:sp>
        <p:nvSpPr>
          <p:cNvPr id="43" name="Text 41"/>
          <p:cNvSpPr/>
          <p:nvPr/>
        </p:nvSpPr>
        <p:spPr>
          <a:xfrm>
            <a:off x="8869680" y="3108960"/>
            <a:ext cx="2743200" cy="329184"/>
          </a:xfrm>
          <a:prstGeom prst="rect">
            <a:avLst/>
          </a:prstGeom>
          <a:noFill/>
          <a:ln/>
        </p:spPr>
        <p:txBody>
          <a:bodyPr wrap="square" lIns="0" tIns="0" rIns="0" bIns="0"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SNOMED CT</a:t>
            </a:r>
            <a:endParaRPr lang="en-US" sz="950" dirty="0"/>
          </a:p>
        </p:txBody>
      </p:sp>
      <p:sp>
        <p:nvSpPr>
          <p:cNvPr id="44" name="Shape 42"/>
          <p:cNvSpPr/>
          <p:nvPr/>
        </p:nvSpPr>
        <p:spPr>
          <a:xfrm>
            <a:off x="365760" y="3803904"/>
            <a:ext cx="11430000" cy="8229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45" name="Shape 43"/>
          <p:cNvSpPr/>
          <p:nvPr/>
        </p:nvSpPr>
        <p:spPr>
          <a:xfrm>
            <a:off x="365760" y="3803904"/>
            <a:ext cx="54864" cy="822960"/>
          </a:xfrm>
          <a:prstGeom prst="rect">
            <a:avLst/>
          </a:prstGeom>
          <a:solidFill>
            <a:srgbClr val="EA580C"/>
          </a:solidFill>
          <a:ln w="12700">
            <a:solidFill>
              <a:srgbClr val="EA580C"/>
            </a:solidFill>
            <a:prstDash val="solid"/>
          </a:ln>
        </p:spPr>
      </p:sp>
      <p:sp>
        <p:nvSpPr>
          <p:cNvPr id="46" name="Shape 44"/>
          <p:cNvSpPr/>
          <p:nvPr/>
        </p:nvSpPr>
        <p:spPr>
          <a:xfrm>
            <a:off x="548640" y="4050792"/>
            <a:ext cx="329184" cy="329184"/>
          </a:xfrm>
          <a:prstGeom prst="ellipse">
            <a:avLst/>
          </a:prstGeom>
          <a:solidFill>
            <a:srgbClr val="EA580C"/>
          </a:solidFill>
          <a:ln w="12700">
            <a:solidFill>
              <a:srgbClr val="EA580C"/>
            </a:solidFill>
            <a:prstDash val="solid"/>
          </a:ln>
        </p:spPr>
      </p:sp>
      <p:sp>
        <p:nvSpPr>
          <p:cNvPr id="47" name="Text 45"/>
          <p:cNvSpPr/>
          <p:nvPr/>
        </p:nvSpPr>
        <p:spPr>
          <a:xfrm>
            <a:off x="548640" y="40507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8" name="Text 46"/>
          <p:cNvSpPr/>
          <p:nvPr/>
        </p:nvSpPr>
        <p:spPr>
          <a:xfrm>
            <a:off x="1024128" y="3913632"/>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Hospital ED</a:t>
            </a:r>
            <a:endParaRPr lang="en-US" sz="1100" dirty="0"/>
          </a:p>
        </p:txBody>
      </p:sp>
      <p:sp>
        <p:nvSpPr>
          <p:cNvPr id="49" name="Text 47"/>
          <p:cNvSpPr/>
          <p:nvPr/>
        </p:nvSpPr>
        <p:spPr>
          <a:xfrm>
            <a:off x="3035808" y="3913632"/>
            <a:ext cx="274320" cy="274320"/>
          </a:xfrm>
          <a:prstGeom prst="rect">
            <a:avLst/>
          </a:prstGeom>
          <a:noFill/>
          <a:ln/>
        </p:spPr>
        <p:txBody>
          <a:bodyPr wrap="square" lIns="0" tIns="0" rIns="0" bIns="0" rtlCol="0" anchor="ctr"/>
          <a:lstStyle/>
          <a:p>
            <a:pPr algn="ctr" indent="0" marL="0">
              <a:buNone/>
            </a:pPr>
            <a:r>
              <a:rPr lang="en-US" sz="1300" dirty="0">
                <a:solidFill>
                  <a:srgbClr val="EA580C"/>
                </a:solidFill>
                <a:latin typeface="Calibri" pitchFamily="34" charset="0"/>
                <a:ea typeface="Calibri" pitchFamily="34" charset="-122"/>
                <a:cs typeface="Calibri" pitchFamily="34" charset="-120"/>
              </a:rPr>
              <a:t>→</a:t>
            </a:r>
            <a:endParaRPr lang="en-US" sz="1300" dirty="0"/>
          </a:p>
        </p:txBody>
      </p:sp>
      <p:sp>
        <p:nvSpPr>
          <p:cNvPr id="50" name="Text 48"/>
          <p:cNvSpPr/>
          <p:nvPr/>
        </p:nvSpPr>
        <p:spPr>
          <a:xfrm>
            <a:off x="3310128" y="3913632"/>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Radiology</a:t>
            </a:r>
            <a:endParaRPr lang="en-US" sz="1100" dirty="0"/>
          </a:p>
        </p:txBody>
      </p:sp>
      <p:sp>
        <p:nvSpPr>
          <p:cNvPr id="51" name="Text 49"/>
          <p:cNvSpPr/>
          <p:nvPr/>
        </p:nvSpPr>
        <p:spPr>
          <a:xfrm>
            <a:off x="1024128" y="4279392"/>
            <a:ext cx="420624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Imaging request (chest X-ray)</a:t>
            </a:r>
            <a:endParaRPr lang="en-US" sz="950" dirty="0"/>
          </a:p>
        </p:txBody>
      </p:sp>
      <p:sp>
        <p:nvSpPr>
          <p:cNvPr id="52" name="Shape 50"/>
          <p:cNvSpPr/>
          <p:nvPr/>
        </p:nvSpPr>
        <p:spPr>
          <a:xfrm>
            <a:off x="5577840" y="4005072"/>
            <a:ext cx="3108960" cy="329184"/>
          </a:xfrm>
          <a:prstGeom prst="rect">
            <a:avLst/>
          </a:prstGeom>
          <a:solidFill>
            <a:srgbClr val="0F172A"/>
          </a:solidFill>
          <a:ln w="12700">
            <a:solidFill>
              <a:srgbClr val="EA580C"/>
            </a:solidFill>
            <a:prstDash val="solid"/>
          </a:ln>
        </p:spPr>
      </p:sp>
      <p:sp>
        <p:nvSpPr>
          <p:cNvPr id="53" name="Text 51"/>
          <p:cNvSpPr/>
          <p:nvPr/>
        </p:nvSpPr>
        <p:spPr>
          <a:xfrm>
            <a:off x="5577840" y="4005072"/>
            <a:ext cx="3108960" cy="329184"/>
          </a:xfrm>
          <a:prstGeom prst="rect">
            <a:avLst/>
          </a:prstGeom>
          <a:noFill/>
          <a:ln/>
        </p:spPr>
        <p:txBody>
          <a:bodyPr wrap="square" lIns="0" tIns="0" rIns="0" bIns="0" rtlCol="0" anchor="ctr"/>
          <a:lstStyle/>
          <a:p>
            <a:pPr algn="ctr" indent="0" marL="0">
              <a:buNone/>
            </a:pPr>
            <a:r>
              <a:rPr lang="en-US" sz="950" b="1" dirty="0">
                <a:solidFill>
                  <a:srgbClr val="EA580C"/>
                </a:solidFill>
                <a:latin typeface="Calibri" pitchFamily="34" charset="0"/>
                <a:ea typeface="Calibri" pitchFamily="34" charset="-122"/>
                <a:cs typeface="Calibri" pitchFamily="34" charset="-120"/>
              </a:rPr>
              <a:t>DICOM Metadata</a:t>
            </a:r>
            <a:endParaRPr lang="en-US" sz="950" dirty="0"/>
          </a:p>
        </p:txBody>
      </p:sp>
      <p:sp>
        <p:nvSpPr>
          <p:cNvPr id="54" name="Shape 52"/>
          <p:cNvSpPr/>
          <p:nvPr/>
        </p:nvSpPr>
        <p:spPr>
          <a:xfrm>
            <a:off x="8869680" y="4005072"/>
            <a:ext cx="2743200" cy="329184"/>
          </a:xfrm>
          <a:prstGeom prst="rect">
            <a:avLst/>
          </a:prstGeom>
          <a:solidFill>
            <a:srgbClr val="FEF3C7"/>
          </a:solidFill>
          <a:ln w="12700">
            <a:solidFill>
              <a:srgbClr val="D97706"/>
            </a:solidFill>
            <a:prstDash val="solid"/>
          </a:ln>
        </p:spPr>
      </p:sp>
      <p:sp>
        <p:nvSpPr>
          <p:cNvPr id="55" name="Text 53"/>
          <p:cNvSpPr/>
          <p:nvPr/>
        </p:nvSpPr>
        <p:spPr>
          <a:xfrm>
            <a:off x="8869680" y="4005072"/>
            <a:ext cx="2743200" cy="329184"/>
          </a:xfrm>
          <a:prstGeom prst="rect">
            <a:avLst/>
          </a:prstGeom>
          <a:noFill/>
          <a:ln/>
        </p:spPr>
        <p:txBody>
          <a:bodyPr wrap="square" lIns="0" tIns="0" rIns="0" bIns="0"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SNOMED CT</a:t>
            </a:r>
            <a:endParaRPr lang="en-US" sz="950" dirty="0"/>
          </a:p>
        </p:txBody>
      </p:sp>
      <p:sp>
        <p:nvSpPr>
          <p:cNvPr id="56" name="Shape 54"/>
          <p:cNvSpPr/>
          <p:nvPr/>
        </p:nvSpPr>
        <p:spPr>
          <a:xfrm>
            <a:off x="365760" y="4700016"/>
            <a:ext cx="11430000" cy="8229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57" name="Shape 55"/>
          <p:cNvSpPr/>
          <p:nvPr/>
        </p:nvSpPr>
        <p:spPr>
          <a:xfrm>
            <a:off x="365760" y="4700016"/>
            <a:ext cx="54864" cy="822960"/>
          </a:xfrm>
          <a:prstGeom prst="rect">
            <a:avLst/>
          </a:prstGeom>
          <a:solidFill>
            <a:srgbClr val="059669"/>
          </a:solidFill>
          <a:ln w="12700">
            <a:solidFill>
              <a:srgbClr val="059669"/>
            </a:solidFill>
            <a:prstDash val="solid"/>
          </a:ln>
        </p:spPr>
      </p:sp>
      <p:sp>
        <p:nvSpPr>
          <p:cNvPr id="58" name="Shape 56"/>
          <p:cNvSpPr/>
          <p:nvPr/>
        </p:nvSpPr>
        <p:spPr>
          <a:xfrm>
            <a:off x="548640" y="4946904"/>
            <a:ext cx="329184" cy="329184"/>
          </a:xfrm>
          <a:prstGeom prst="ellipse">
            <a:avLst/>
          </a:prstGeom>
          <a:solidFill>
            <a:srgbClr val="059669"/>
          </a:solidFill>
          <a:ln w="12700">
            <a:solidFill>
              <a:srgbClr val="059669"/>
            </a:solidFill>
            <a:prstDash val="solid"/>
          </a:ln>
        </p:spPr>
      </p:sp>
      <p:sp>
        <p:nvSpPr>
          <p:cNvPr id="59" name="Text 57"/>
          <p:cNvSpPr/>
          <p:nvPr/>
        </p:nvSpPr>
        <p:spPr>
          <a:xfrm>
            <a:off x="548640" y="4946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0" name="Text 58"/>
          <p:cNvSpPr/>
          <p:nvPr/>
        </p:nvSpPr>
        <p:spPr>
          <a:xfrm>
            <a:off x="1024128" y="4809744"/>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Hospital ED</a:t>
            </a:r>
            <a:endParaRPr lang="en-US" sz="1100" dirty="0"/>
          </a:p>
        </p:txBody>
      </p:sp>
      <p:sp>
        <p:nvSpPr>
          <p:cNvPr id="61" name="Text 59"/>
          <p:cNvSpPr/>
          <p:nvPr/>
        </p:nvSpPr>
        <p:spPr>
          <a:xfrm>
            <a:off x="3035808" y="4809744"/>
            <a:ext cx="274320" cy="274320"/>
          </a:xfrm>
          <a:prstGeom prst="rect">
            <a:avLst/>
          </a:prstGeom>
          <a:noFill/>
          <a:ln/>
        </p:spPr>
        <p:txBody>
          <a:bodyPr wrap="square" lIns="0" tIns="0" rIns="0" bIns="0" rtlCol="0" anchor="ctr"/>
          <a:lstStyle/>
          <a:p>
            <a:pPr algn="ctr" indent="0" marL="0">
              <a:buNone/>
            </a:pPr>
            <a:r>
              <a:rPr lang="en-US" sz="1300" dirty="0">
                <a:solidFill>
                  <a:srgbClr val="059669"/>
                </a:solidFill>
                <a:latin typeface="Calibri" pitchFamily="34" charset="0"/>
                <a:ea typeface="Calibri" pitchFamily="34" charset="-122"/>
                <a:cs typeface="Calibri" pitchFamily="34" charset="-120"/>
              </a:rPr>
              <a:t>→</a:t>
            </a:r>
            <a:endParaRPr lang="en-US" sz="1300" dirty="0"/>
          </a:p>
        </p:txBody>
      </p:sp>
      <p:sp>
        <p:nvSpPr>
          <p:cNvPr id="62" name="Text 60"/>
          <p:cNvSpPr/>
          <p:nvPr/>
        </p:nvSpPr>
        <p:spPr>
          <a:xfrm>
            <a:off x="3310128" y="4809744"/>
            <a:ext cx="2011680" cy="27432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Pharmacy</a:t>
            </a:r>
            <a:endParaRPr lang="en-US" sz="1100" dirty="0"/>
          </a:p>
        </p:txBody>
      </p:sp>
      <p:sp>
        <p:nvSpPr>
          <p:cNvPr id="63" name="Text 61"/>
          <p:cNvSpPr/>
          <p:nvPr/>
        </p:nvSpPr>
        <p:spPr>
          <a:xfrm>
            <a:off x="1024128" y="5175504"/>
            <a:ext cx="4206240" cy="25603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Medication order (Aspirin 75mg)</a:t>
            </a:r>
            <a:endParaRPr lang="en-US" sz="950" dirty="0"/>
          </a:p>
        </p:txBody>
      </p:sp>
      <p:sp>
        <p:nvSpPr>
          <p:cNvPr id="64" name="Shape 62"/>
          <p:cNvSpPr/>
          <p:nvPr/>
        </p:nvSpPr>
        <p:spPr>
          <a:xfrm>
            <a:off x="5577840" y="4901184"/>
            <a:ext cx="3108960" cy="329184"/>
          </a:xfrm>
          <a:prstGeom prst="rect">
            <a:avLst/>
          </a:prstGeom>
          <a:solidFill>
            <a:srgbClr val="0F172A"/>
          </a:solidFill>
          <a:ln w="12700">
            <a:solidFill>
              <a:srgbClr val="059669"/>
            </a:solidFill>
            <a:prstDash val="solid"/>
          </a:ln>
        </p:spPr>
      </p:sp>
      <p:sp>
        <p:nvSpPr>
          <p:cNvPr id="65" name="Text 63"/>
          <p:cNvSpPr/>
          <p:nvPr/>
        </p:nvSpPr>
        <p:spPr>
          <a:xfrm>
            <a:off x="5577840" y="4901184"/>
            <a:ext cx="3108960" cy="329184"/>
          </a:xfrm>
          <a:prstGeom prst="rect">
            <a:avLst/>
          </a:prstGeom>
          <a:noFill/>
          <a:ln/>
        </p:spPr>
        <p:txBody>
          <a:bodyPr wrap="square" lIns="0" tIns="0" rIns="0" bIns="0" rtlCol="0" anchor="ctr"/>
          <a:lstStyle/>
          <a:p>
            <a:pPr algn="ctr" indent="0" marL="0">
              <a:buNone/>
            </a:pPr>
            <a:r>
              <a:rPr lang="en-US" sz="950" b="1" dirty="0">
                <a:solidFill>
                  <a:srgbClr val="059669"/>
                </a:solidFill>
                <a:latin typeface="Calibri" pitchFamily="34" charset="0"/>
                <a:ea typeface="Calibri" pitchFamily="34" charset="-122"/>
                <a:cs typeface="Calibri" pitchFamily="34" charset="-120"/>
              </a:rPr>
              <a:t>FHIR R4 MedicationRequest</a:t>
            </a:r>
            <a:endParaRPr lang="en-US" sz="950" dirty="0"/>
          </a:p>
        </p:txBody>
      </p:sp>
      <p:sp>
        <p:nvSpPr>
          <p:cNvPr id="66" name="Shape 64"/>
          <p:cNvSpPr/>
          <p:nvPr/>
        </p:nvSpPr>
        <p:spPr>
          <a:xfrm>
            <a:off x="8869680" y="4901184"/>
            <a:ext cx="2743200" cy="329184"/>
          </a:xfrm>
          <a:prstGeom prst="rect">
            <a:avLst/>
          </a:prstGeom>
          <a:solidFill>
            <a:srgbClr val="FEF3C7"/>
          </a:solidFill>
          <a:ln w="12700">
            <a:solidFill>
              <a:srgbClr val="D97706"/>
            </a:solidFill>
            <a:prstDash val="solid"/>
          </a:ln>
        </p:spPr>
      </p:sp>
      <p:sp>
        <p:nvSpPr>
          <p:cNvPr id="67" name="Text 65"/>
          <p:cNvSpPr/>
          <p:nvPr/>
        </p:nvSpPr>
        <p:spPr>
          <a:xfrm>
            <a:off x="8869680" y="4901184"/>
            <a:ext cx="2743200" cy="329184"/>
          </a:xfrm>
          <a:prstGeom prst="rect">
            <a:avLst/>
          </a:prstGeom>
          <a:noFill/>
          <a:ln/>
        </p:spPr>
        <p:txBody>
          <a:bodyPr wrap="square" lIns="0" tIns="0" rIns="0" bIns="0"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RxNorm</a:t>
            </a:r>
            <a:endParaRPr lang="en-US" sz="950" dirty="0"/>
          </a:p>
        </p:txBody>
      </p:sp>
      <p:sp>
        <p:nvSpPr>
          <p:cNvPr id="68" name="Text 66"/>
          <p:cNvSpPr/>
          <p:nvPr/>
        </p:nvSpPr>
        <p:spPr>
          <a:xfrm>
            <a:off x="502920" y="960120"/>
            <a:ext cx="4937760" cy="164592"/>
          </a:xfrm>
          <a:prstGeom prst="rect">
            <a:avLst/>
          </a:prstGeom>
          <a:noFill/>
          <a:ln/>
        </p:spPr>
        <p:txBody>
          <a:bodyPr wrap="square" lIns="0" tIns="0" rIns="0" bIns="0" rtlCol="0" anchor="ctr"/>
          <a:lstStyle/>
          <a:p>
            <a:pPr indent="0" marL="0">
              <a:buNone/>
            </a:pPr>
            <a:r>
              <a:rPr lang="en-US" sz="800" b="1" spc="100" kern="0" dirty="0">
                <a:solidFill>
                  <a:srgbClr val="475569"/>
                </a:solidFill>
                <a:latin typeface="Calibri" pitchFamily="34" charset="0"/>
                <a:ea typeface="Calibri" pitchFamily="34" charset="-122"/>
                <a:cs typeface="Calibri" pitchFamily="34" charset="-120"/>
              </a:rPr>
              <a:t>Channel  From → To</a:t>
            </a:r>
            <a:endParaRPr lang="en-US" sz="800" dirty="0"/>
          </a:p>
        </p:txBody>
      </p:sp>
      <p:sp>
        <p:nvSpPr>
          <p:cNvPr id="69" name="Text 67"/>
          <p:cNvSpPr/>
          <p:nvPr/>
        </p:nvSpPr>
        <p:spPr>
          <a:xfrm>
            <a:off x="5577840" y="960120"/>
            <a:ext cx="3108960" cy="164592"/>
          </a:xfrm>
          <a:prstGeom prst="rect">
            <a:avLst/>
          </a:prstGeom>
          <a:noFill/>
          <a:ln/>
        </p:spPr>
        <p:txBody>
          <a:bodyPr wrap="square" lIns="0" tIns="0" rIns="0" bIns="0" rtlCol="0" anchor="ctr"/>
          <a:lstStyle/>
          <a:p>
            <a:pPr algn="ctr" indent="0" marL="0">
              <a:buNone/>
            </a:pPr>
            <a:r>
              <a:rPr lang="en-US" sz="800" b="1" spc="100" kern="0" dirty="0">
                <a:solidFill>
                  <a:srgbClr val="475569"/>
                </a:solidFill>
                <a:latin typeface="Calibri" pitchFamily="34" charset="0"/>
                <a:ea typeface="Calibri" pitchFamily="34" charset="-122"/>
                <a:cs typeface="Calibri" pitchFamily="34" charset="-120"/>
              </a:rPr>
              <a:t>Standard</a:t>
            </a:r>
            <a:endParaRPr lang="en-US" sz="800" dirty="0"/>
          </a:p>
        </p:txBody>
      </p:sp>
      <p:sp>
        <p:nvSpPr>
          <p:cNvPr id="70" name="Text 68"/>
          <p:cNvSpPr/>
          <p:nvPr/>
        </p:nvSpPr>
        <p:spPr>
          <a:xfrm>
            <a:off x="8869680" y="960120"/>
            <a:ext cx="2743200" cy="164592"/>
          </a:xfrm>
          <a:prstGeom prst="rect">
            <a:avLst/>
          </a:prstGeom>
          <a:noFill/>
          <a:ln/>
        </p:spPr>
        <p:txBody>
          <a:bodyPr wrap="square" lIns="0" tIns="0" rIns="0" bIns="0" rtlCol="0" anchor="ctr"/>
          <a:lstStyle/>
          <a:p>
            <a:pPr algn="ctr" indent="0" marL="0">
              <a:buNone/>
            </a:pPr>
            <a:r>
              <a:rPr lang="en-US" sz="800" b="1" spc="100" kern="0" dirty="0">
                <a:solidFill>
                  <a:srgbClr val="475569"/>
                </a:solidFill>
                <a:latin typeface="Calibri" pitchFamily="34" charset="0"/>
                <a:ea typeface="Calibri" pitchFamily="34" charset="-122"/>
                <a:cs typeface="Calibri" pitchFamily="34" charset="-120"/>
              </a:rPr>
              <a:t>Terminology</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7C3AED"/>
          </a:solidFill>
          <a:ln w="12700">
            <a:solidFill>
              <a:srgbClr val="7C3AED"/>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Simulated Datasets</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5 SQLite databases — each with different structure, content, and terminology</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365760" y="1115568"/>
            <a:ext cx="2176272" cy="51663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9" name="Shape 7"/>
          <p:cNvSpPr/>
          <p:nvPr/>
        </p:nvSpPr>
        <p:spPr>
          <a:xfrm>
            <a:off x="365760" y="1115568"/>
            <a:ext cx="2176272" cy="566928"/>
          </a:xfrm>
          <a:prstGeom prst="rect">
            <a:avLst/>
          </a:prstGeom>
          <a:solidFill>
            <a:srgbClr val="1E40AF"/>
          </a:solidFill>
          <a:ln w="12700">
            <a:solidFill>
              <a:srgbClr val="1E40AF"/>
            </a:solidFill>
            <a:prstDash val="solid"/>
          </a:ln>
        </p:spPr>
      </p:sp>
      <p:sp>
        <p:nvSpPr>
          <p:cNvPr id="10" name="Text 8"/>
          <p:cNvSpPr/>
          <p:nvPr/>
        </p:nvSpPr>
        <p:spPr>
          <a:xfrm>
            <a:off x="420624" y="1115568"/>
            <a:ext cx="2066544" cy="347472"/>
          </a:xfrm>
          <a:prstGeom prst="rect">
            <a:avLst/>
          </a:prstGeom>
          <a:noFill/>
          <a:ln/>
        </p:spPr>
        <p:txBody>
          <a:bodyPr wrap="square" lIns="0" tIns="0" rIns="0" bIns="0" rtlCol="0" anchor="b"/>
          <a:lstStyle/>
          <a:p>
            <a:pPr algn="ctr" indent="0" marL="0">
              <a:buNone/>
            </a:pPr>
            <a:r>
              <a:rPr lang="en-US" sz="900" b="1" dirty="0">
                <a:solidFill>
                  <a:srgbClr val="FFFFFF"/>
                </a:solidFill>
                <a:latin typeface="Calibri" pitchFamily="34" charset="0"/>
                <a:ea typeface="Calibri" pitchFamily="34" charset="-122"/>
                <a:cs typeface="Calibri" pitchFamily="34" charset="-120"/>
              </a:rPr>
              <a:t>gp_clinic.db</a:t>
            </a:r>
            <a:endParaRPr lang="en-US" sz="900" dirty="0"/>
          </a:p>
        </p:txBody>
      </p:sp>
      <p:sp>
        <p:nvSpPr>
          <p:cNvPr id="11" name="Text 9"/>
          <p:cNvSpPr/>
          <p:nvPr/>
        </p:nvSpPr>
        <p:spPr>
          <a:xfrm>
            <a:off x="420624" y="1444752"/>
            <a:ext cx="2066544" cy="201168"/>
          </a:xfrm>
          <a:prstGeom prst="rect">
            <a:avLst/>
          </a:prstGeom>
          <a:noFill/>
          <a:ln/>
        </p:spPr>
        <p:txBody>
          <a:bodyPr wrap="square" lIns="0" tIns="0" rIns="0" bIns="0" rtlCol="0" anchor="ctr"/>
          <a:lstStyle/>
          <a:p>
            <a:pPr algn="ctr" indent="0" marL="0">
              <a:buNone/>
            </a:pPr>
            <a:r>
              <a:rPr lang="en-US" sz="750" dirty="0">
                <a:solidFill>
                  <a:srgbClr val="BFDBFE"/>
                </a:solidFill>
                <a:latin typeface="Calibri" pitchFamily="34" charset="0"/>
                <a:ea typeface="Calibri" pitchFamily="34" charset="-122"/>
                <a:cs typeface="Calibri" pitchFamily="34" charset="-120"/>
              </a:rPr>
              <a:t>table: patients</a:t>
            </a:r>
            <a:endParaRPr lang="en-US" sz="750" dirty="0"/>
          </a:p>
        </p:txBody>
      </p:sp>
      <p:sp>
        <p:nvSpPr>
          <p:cNvPr id="12" name="Text 10"/>
          <p:cNvSpPr/>
          <p:nvPr/>
        </p:nvSpPr>
        <p:spPr>
          <a:xfrm>
            <a:off x="457200" y="1764792"/>
            <a:ext cx="2029968" cy="182880"/>
          </a:xfrm>
          <a:prstGeom prst="rect">
            <a:avLst/>
          </a:prstGeom>
          <a:noFill/>
          <a:ln/>
        </p:spPr>
        <p:txBody>
          <a:bodyPr wrap="square" lIns="0" tIns="0" rIns="0" bIns="0" rtlCol="0" anchor="ctr"/>
          <a:lstStyle/>
          <a:p>
            <a:pPr indent="0" marL="0">
              <a:buNone/>
            </a:pPr>
            <a:r>
              <a:rPr lang="en-US" sz="700" b="1" spc="100" kern="0" dirty="0">
                <a:solidFill>
                  <a:srgbClr val="475569"/>
                </a:solidFill>
                <a:latin typeface="Calibri" pitchFamily="34" charset="0"/>
                <a:ea typeface="Calibri" pitchFamily="34" charset="-122"/>
                <a:cs typeface="Calibri" pitchFamily="34" charset="-120"/>
              </a:rPr>
              <a:t>FIELDS</a:t>
            </a:r>
            <a:endParaRPr lang="en-US" sz="700" dirty="0"/>
          </a:p>
        </p:txBody>
      </p:sp>
      <p:sp>
        <p:nvSpPr>
          <p:cNvPr id="13" name="Text 11"/>
          <p:cNvSpPr/>
          <p:nvPr/>
        </p:nvSpPr>
        <p:spPr>
          <a:xfrm>
            <a:off x="457200" y="1947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id</a:t>
            </a:r>
            <a:endParaRPr lang="en-US" sz="800" dirty="0"/>
          </a:p>
        </p:txBody>
      </p:sp>
      <p:sp>
        <p:nvSpPr>
          <p:cNvPr id="14" name="Text 12"/>
          <p:cNvSpPr/>
          <p:nvPr/>
        </p:nvSpPr>
        <p:spPr>
          <a:xfrm>
            <a:off x="457200" y="2176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name</a:t>
            </a:r>
            <a:endParaRPr lang="en-US" sz="800" dirty="0"/>
          </a:p>
        </p:txBody>
      </p:sp>
      <p:sp>
        <p:nvSpPr>
          <p:cNvPr id="15" name="Text 13"/>
          <p:cNvSpPr/>
          <p:nvPr/>
        </p:nvSpPr>
        <p:spPr>
          <a:xfrm>
            <a:off x="457200" y="24048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dob</a:t>
            </a:r>
            <a:endParaRPr lang="en-US" sz="800" dirty="0"/>
          </a:p>
        </p:txBody>
      </p:sp>
      <p:sp>
        <p:nvSpPr>
          <p:cNvPr id="16" name="Text 14"/>
          <p:cNvSpPr/>
          <p:nvPr/>
        </p:nvSpPr>
        <p:spPr>
          <a:xfrm>
            <a:off x="457200" y="26334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gender</a:t>
            </a:r>
            <a:endParaRPr lang="en-US" sz="800" dirty="0"/>
          </a:p>
        </p:txBody>
      </p:sp>
      <p:sp>
        <p:nvSpPr>
          <p:cNvPr id="17" name="Text 15"/>
          <p:cNvSpPr/>
          <p:nvPr/>
        </p:nvSpPr>
        <p:spPr>
          <a:xfrm>
            <a:off x="457200" y="28620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local_diagnosis_code</a:t>
            </a:r>
            <a:endParaRPr lang="en-US" sz="800" dirty="0"/>
          </a:p>
        </p:txBody>
      </p:sp>
      <p:sp>
        <p:nvSpPr>
          <p:cNvPr id="18" name="Text 16"/>
          <p:cNvSpPr/>
          <p:nvPr/>
        </p:nvSpPr>
        <p:spPr>
          <a:xfrm>
            <a:off x="457200" y="3090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diagnosis_text</a:t>
            </a:r>
            <a:endParaRPr lang="en-US" sz="800" dirty="0"/>
          </a:p>
        </p:txBody>
      </p:sp>
      <p:sp>
        <p:nvSpPr>
          <p:cNvPr id="19" name="Text 17"/>
          <p:cNvSpPr/>
          <p:nvPr/>
        </p:nvSpPr>
        <p:spPr>
          <a:xfrm>
            <a:off x="457200" y="3319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referred_to</a:t>
            </a:r>
            <a:endParaRPr lang="en-US" sz="800" dirty="0"/>
          </a:p>
        </p:txBody>
      </p:sp>
      <p:sp>
        <p:nvSpPr>
          <p:cNvPr id="20" name="Shape 18"/>
          <p:cNvSpPr/>
          <p:nvPr/>
        </p:nvSpPr>
        <p:spPr>
          <a:xfrm>
            <a:off x="438912" y="5029200"/>
            <a:ext cx="2029968" cy="256032"/>
          </a:xfrm>
          <a:prstGeom prst="rect">
            <a:avLst/>
          </a:prstGeom>
          <a:solidFill>
            <a:srgbClr val="FEF3C7"/>
          </a:solidFill>
          <a:ln w="12700">
            <a:solidFill>
              <a:srgbClr val="D97706"/>
            </a:solidFill>
            <a:prstDash val="solid"/>
          </a:ln>
        </p:spPr>
      </p:sp>
      <p:sp>
        <p:nvSpPr>
          <p:cNvPr id="21" name="Text 19"/>
          <p:cNvSpPr/>
          <p:nvPr/>
        </p:nvSpPr>
        <p:spPr>
          <a:xfrm>
            <a:off x="438912" y="5029200"/>
            <a:ext cx="2029968" cy="256032"/>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Local GP codes (CP-01…)</a:t>
            </a:r>
            <a:endParaRPr lang="en-US" sz="750" dirty="0"/>
          </a:p>
        </p:txBody>
      </p:sp>
      <p:sp>
        <p:nvSpPr>
          <p:cNvPr id="22" name="Shape 20"/>
          <p:cNvSpPr/>
          <p:nvPr/>
        </p:nvSpPr>
        <p:spPr>
          <a:xfrm>
            <a:off x="2651760" y="1115568"/>
            <a:ext cx="2176272" cy="51663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23" name="Shape 21"/>
          <p:cNvSpPr/>
          <p:nvPr/>
        </p:nvSpPr>
        <p:spPr>
          <a:xfrm>
            <a:off x="2651760" y="1115568"/>
            <a:ext cx="2176272" cy="566928"/>
          </a:xfrm>
          <a:prstGeom prst="rect">
            <a:avLst/>
          </a:prstGeom>
          <a:solidFill>
            <a:srgbClr val="7C3AED"/>
          </a:solidFill>
          <a:ln w="12700">
            <a:solidFill>
              <a:srgbClr val="7C3AED"/>
            </a:solidFill>
            <a:prstDash val="solid"/>
          </a:ln>
        </p:spPr>
      </p:sp>
      <p:sp>
        <p:nvSpPr>
          <p:cNvPr id="24" name="Text 22"/>
          <p:cNvSpPr/>
          <p:nvPr/>
        </p:nvSpPr>
        <p:spPr>
          <a:xfrm>
            <a:off x="2706624" y="1115568"/>
            <a:ext cx="2066544" cy="347472"/>
          </a:xfrm>
          <a:prstGeom prst="rect">
            <a:avLst/>
          </a:prstGeom>
          <a:noFill/>
          <a:ln/>
        </p:spPr>
        <p:txBody>
          <a:bodyPr wrap="square" lIns="0" tIns="0" rIns="0" bIns="0" rtlCol="0" anchor="b"/>
          <a:lstStyle/>
          <a:p>
            <a:pPr algn="ctr" indent="0" marL="0">
              <a:buNone/>
            </a:pPr>
            <a:r>
              <a:rPr lang="en-US" sz="900" b="1" dirty="0">
                <a:solidFill>
                  <a:srgbClr val="FFFFFF"/>
                </a:solidFill>
                <a:latin typeface="Calibri" pitchFamily="34" charset="0"/>
                <a:ea typeface="Calibri" pitchFamily="34" charset="-122"/>
                <a:cs typeface="Calibri" pitchFamily="34" charset="-120"/>
              </a:rPr>
              <a:t>hospital_ed.db</a:t>
            </a:r>
            <a:endParaRPr lang="en-US" sz="900" dirty="0"/>
          </a:p>
        </p:txBody>
      </p:sp>
      <p:sp>
        <p:nvSpPr>
          <p:cNvPr id="25" name="Text 23"/>
          <p:cNvSpPr/>
          <p:nvPr/>
        </p:nvSpPr>
        <p:spPr>
          <a:xfrm>
            <a:off x="2706624" y="1444752"/>
            <a:ext cx="2066544" cy="201168"/>
          </a:xfrm>
          <a:prstGeom prst="rect">
            <a:avLst/>
          </a:prstGeom>
          <a:noFill/>
          <a:ln/>
        </p:spPr>
        <p:txBody>
          <a:bodyPr wrap="square" lIns="0" tIns="0" rIns="0" bIns="0" rtlCol="0" anchor="ctr"/>
          <a:lstStyle/>
          <a:p>
            <a:pPr algn="ctr" indent="0" marL="0">
              <a:buNone/>
            </a:pPr>
            <a:r>
              <a:rPr lang="en-US" sz="750" dirty="0">
                <a:solidFill>
                  <a:srgbClr val="BFDBFE"/>
                </a:solidFill>
                <a:latin typeface="Calibri" pitchFamily="34" charset="0"/>
                <a:ea typeface="Calibri" pitchFamily="34" charset="-122"/>
                <a:cs typeface="Calibri" pitchFamily="34" charset="-120"/>
              </a:rPr>
              <a:t>table: admissions</a:t>
            </a:r>
            <a:endParaRPr lang="en-US" sz="750" dirty="0"/>
          </a:p>
        </p:txBody>
      </p:sp>
      <p:sp>
        <p:nvSpPr>
          <p:cNvPr id="26" name="Text 24"/>
          <p:cNvSpPr/>
          <p:nvPr/>
        </p:nvSpPr>
        <p:spPr>
          <a:xfrm>
            <a:off x="2743200" y="1764792"/>
            <a:ext cx="2029968" cy="182880"/>
          </a:xfrm>
          <a:prstGeom prst="rect">
            <a:avLst/>
          </a:prstGeom>
          <a:noFill/>
          <a:ln/>
        </p:spPr>
        <p:txBody>
          <a:bodyPr wrap="square" lIns="0" tIns="0" rIns="0" bIns="0" rtlCol="0" anchor="ctr"/>
          <a:lstStyle/>
          <a:p>
            <a:pPr indent="0" marL="0">
              <a:buNone/>
            </a:pPr>
            <a:r>
              <a:rPr lang="en-US" sz="700" b="1" spc="100" kern="0" dirty="0">
                <a:solidFill>
                  <a:srgbClr val="475569"/>
                </a:solidFill>
                <a:latin typeface="Calibri" pitchFamily="34" charset="0"/>
                <a:ea typeface="Calibri" pitchFamily="34" charset="-122"/>
                <a:cs typeface="Calibri" pitchFamily="34" charset="-120"/>
              </a:rPr>
              <a:t>FIELDS</a:t>
            </a:r>
            <a:endParaRPr lang="en-US" sz="700" dirty="0"/>
          </a:p>
        </p:txBody>
      </p:sp>
      <p:sp>
        <p:nvSpPr>
          <p:cNvPr id="27" name="Text 25"/>
          <p:cNvSpPr/>
          <p:nvPr/>
        </p:nvSpPr>
        <p:spPr>
          <a:xfrm>
            <a:off x="2743200" y="1947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id</a:t>
            </a:r>
            <a:endParaRPr lang="en-US" sz="800" dirty="0"/>
          </a:p>
        </p:txBody>
      </p:sp>
      <p:sp>
        <p:nvSpPr>
          <p:cNvPr id="28" name="Text 26"/>
          <p:cNvSpPr/>
          <p:nvPr/>
        </p:nvSpPr>
        <p:spPr>
          <a:xfrm>
            <a:off x="2743200" y="2176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patient_name</a:t>
            </a:r>
            <a:endParaRPr lang="en-US" sz="800" dirty="0"/>
          </a:p>
        </p:txBody>
      </p:sp>
      <p:sp>
        <p:nvSpPr>
          <p:cNvPr id="29" name="Text 27"/>
          <p:cNvSpPr/>
          <p:nvPr/>
        </p:nvSpPr>
        <p:spPr>
          <a:xfrm>
            <a:off x="2743200" y="24048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icd10_code</a:t>
            </a:r>
            <a:endParaRPr lang="en-US" sz="800" dirty="0"/>
          </a:p>
        </p:txBody>
      </p:sp>
      <p:sp>
        <p:nvSpPr>
          <p:cNvPr id="30" name="Text 28"/>
          <p:cNvSpPr/>
          <p:nvPr/>
        </p:nvSpPr>
        <p:spPr>
          <a:xfrm>
            <a:off x="2743200" y="26334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diagnosis_text</a:t>
            </a:r>
            <a:endParaRPr lang="en-US" sz="800" dirty="0"/>
          </a:p>
        </p:txBody>
      </p:sp>
      <p:sp>
        <p:nvSpPr>
          <p:cNvPr id="31" name="Text 29"/>
          <p:cNvSpPr/>
          <p:nvPr/>
        </p:nvSpPr>
        <p:spPr>
          <a:xfrm>
            <a:off x="2743200" y="28620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attending_physician</a:t>
            </a:r>
            <a:endParaRPr lang="en-US" sz="800" dirty="0"/>
          </a:p>
        </p:txBody>
      </p:sp>
      <p:sp>
        <p:nvSpPr>
          <p:cNvPr id="32" name="Text 30"/>
          <p:cNvSpPr/>
          <p:nvPr/>
        </p:nvSpPr>
        <p:spPr>
          <a:xfrm>
            <a:off x="2743200" y="3090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admission_date</a:t>
            </a:r>
            <a:endParaRPr lang="en-US" sz="800" dirty="0"/>
          </a:p>
        </p:txBody>
      </p:sp>
      <p:sp>
        <p:nvSpPr>
          <p:cNvPr id="33" name="Shape 31"/>
          <p:cNvSpPr/>
          <p:nvPr/>
        </p:nvSpPr>
        <p:spPr>
          <a:xfrm>
            <a:off x="2724912" y="5029200"/>
            <a:ext cx="2029968" cy="256032"/>
          </a:xfrm>
          <a:prstGeom prst="rect">
            <a:avLst/>
          </a:prstGeom>
          <a:solidFill>
            <a:srgbClr val="FEF3C7"/>
          </a:solidFill>
          <a:ln w="12700">
            <a:solidFill>
              <a:srgbClr val="D97706"/>
            </a:solidFill>
            <a:prstDash val="solid"/>
          </a:ln>
        </p:spPr>
      </p:sp>
      <p:sp>
        <p:nvSpPr>
          <p:cNvPr id="34" name="Text 32"/>
          <p:cNvSpPr/>
          <p:nvPr/>
        </p:nvSpPr>
        <p:spPr>
          <a:xfrm>
            <a:off x="2724912" y="5029200"/>
            <a:ext cx="2029968" cy="256032"/>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ICD-10 (I20.0, I21.9…)</a:t>
            </a:r>
            <a:endParaRPr lang="en-US" sz="750" dirty="0"/>
          </a:p>
        </p:txBody>
      </p:sp>
      <p:sp>
        <p:nvSpPr>
          <p:cNvPr id="35" name="Shape 33"/>
          <p:cNvSpPr/>
          <p:nvPr/>
        </p:nvSpPr>
        <p:spPr>
          <a:xfrm>
            <a:off x="4937760" y="1115568"/>
            <a:ext cx="2176272" cy="51663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36" name="Shape 34"/>
          <p:cNvSpPr/>
          <p:nvPr/>
        </p:nvSpPr>
        <p:spPr>
          <a:xfrm>
            <a:off x="4937760" y="1115568"/>
            <a:ext cx="2176272" cy="566928"/>
          </a:xfrm>
          <a:prstGeom prst="rect">
            <a:avLst/>
          </a:prstGeom>
          <a:solidFill>
            <a:srgbClr val="0D9488"/>
          </a:solidFill>
          <a:ln w="12700">
            <a:solidFill>
              <a:srgbClr val="0D9488"/>
            </a:solidFill>
            <a:prstDash val="solid"/>
          </a:ln>
        </p:spPr>
      </p:sp>
      <p:sp>
        <p:nvSpPr>
          <p:cNvPr id="37" name="Text 35"/>
          <p:cNvSpPr/>
          <p:nvPr/>
        </p:nvSpPr>
        <p:spPr>
          <a:xfrm>
            <a:off x="4992624" y="1115568"/>
            <a:ext cx="2066544" cy="347472"/>
          </a:xfrm>
          <a:prstGeom prst="rect">
            <a:avLst/>
          </a:prstGeom>
          <a:noFill/>
          <a:ln/>
        </p:spPr>
        <p:txBody>
          <a:bodyPr wrap="square" lIns="0" tIns="0" rIns="0" bIns="0" rtlCol="0" anchor="b"/>
          <a:lstStyle/>
          <a:p>
            <a:pPr algn="ctr" indent="0" marL="0">
              <a:buNone/>
            </a:pPr>
            <a:r>
              <a:rPr lang="en-US" sz="900" b="1" dirty="0">
                <a:solidFill>
                  <a:srgbClr val="FFFFFF"/>
                </a:solidFill>
                <a:latin typeface="Calibri" pitchFamily="34" charset="0"/>
                <a:ea typeface="Calibri" pitchFamily="34" charset="-122"/>
                <a:cs typeface="Calibri" pitchFamily="34" charset="-120"/>
              </a:rPr>
              <a:t>laboratory.db</a:t>
            </a:r>
            <a:endParaRPr lang="en-US" sz="900" dirty="0"/>
          </a:p>
        </p:txBody>
      </p:sp>
      <p:sp>
        <p:nvSpPr>
          <p:cNvPr id="38" name="Text 36"/>
          <p:cNvSpPr/>
          <p:nvPr/>
        </p:nvSpPr>
        <p:spPr>
          <a:xfrm>
            <a:off x="4992624" y="1444752"/>
            <a:ext cx="2066544" cy="201168"/>
          </a:xfrm>
          <a:prstGeom prst="rect">
            <a:avLst/>
          </a:prstGeom>
          <a:noFill/>
          <a:ln/>
        </p:spPr>
        <p:txBody>
          <a:bodyPr wrap="square" lIns="0" tIns="0" rIns="0" bIns="0" rtlCol="0" anchor="ctr"/>
          <a:lstStyle/>
          <a:p>
            <a:pPr algn="ctr" indent="0" marL="0">
              <a:buNone/>
            </a:pPr>
            <a:r>
              <a:rPr lang="en-US" sz="750" dirty="0">
                <a:solidFill>
                  <a:srgbClr val="BFDBFE"/>
                </a:solidFill>
                <a:latin typeface="Calibri" pitchFamily="34" charset="0"/>
                <a:ea typeface="Calibri" pitchFamily="34" charset="-122"/>
                <a:cs typeface="Calibri" pitchFamily="34" charset="-120"/>
              </a:rPr>
              <a:t>table: orders</a:t>
            </a:r>
            <a:endParaRPr lang="en-US" sz="750" dirty="0"/>
          </a:p>
        </p:txBody>
      </p:sp>
      <p:sp>
        <p:nvSpPr>
          <p:cNvPr id="39" name="Text 37"/>
          <p:cNvSpPr/>
          <p:nvPr/>
        </p:nvSpPr>
        <p:spPr>
          <a:xfrm>
            <a:off x="5029200" y="1764792"/>
            <a:ext cx="2029968" cy="182880"/>
          </a:xfrm>
          <a:prstGeom prst="rect">
            <a:avLst/>
          </a:prstGeom>
          <a:noFill/>
          <a:ln/>
        </p:spPr>
        <p:txBody>
          <a:bodyPr wrap="square" lIns="0" tIns="0" rIns="0" bIns="0" rtlCol="0" anchor="ctr"/>
          <a:lstStyle/>
          <a:p>
            <a:pPr indent="0" marL="0">
              <a:buNone/>
            </a:pPr>
            <a:r>
              <a:rPr lang="en-US" sz="700" b="1" spc="100" kern="0" dirty="0">
                <a:solidFill>
                  <a:srgbClr val="475569"/>
                </a:solidFill>
                <a:latin typeface="Calibri" pitchFamily="34" charset="0"/>
                <a:ea typeface="Calibri" pitchFamily="34" charset="-122"/>
                <a:cs typeface="Calibri" pitchFamily="34" charset="-120"/>
              </a:rPr>
              <a:t>FIELDS</a:t>
            </a:r>
            <a:endParaRPr lang="en-US" sz="700" dirty="0"/>
          </a:p>
        </p:txBody>
      </p:sp>
      <p:sp>
        <p:nvSpPr>
          <p:cNvPr id="40" name="Text 38"/>
          <p:cNvSpPr/>
          <p:nvPr/>
        </p:nvSpPr>
        <p:spPr>
          <a:xfrm>
            <a:off x="5029200" y="1947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id</a:t>
            </a:r>
            <a:endParaRPr lang="en-US" sz="800" dirty="0"/>
          </a:p>
        </p:txBody>
      </p:sp>
      <p:sp>
        <p:nvSpPr>
          <p:cNvPr id="41" name="Text 39"/>
          <p:cNvSpPr/>
          <p:nvPr/>
        </p:nvSpPr>
        <p:spPr>
          <a:xfrm>
            <a:off x="5029200" y="2176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patient_name</a:t>
            </a:r>
            <a:endParaRPr lang="en-US" sz="800" dirty="0"/>
          </a:p>
        </p:txBody>
      </p:sp>
      <p:sp>
        <p:nvSpPr>
          <p:cNvPr id="42" name="Text 40"/>
          <p:cNvSpPr/>
          <p:nvPr/>
        </p:nvSpPr>
        <p:spPr>
          <a:xfrm>
            <a:off x="5029200" y="24048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loinc_code</a:t>
            </a:r>
            <a:endParaRPr lang="en-US" sz="800" dirty="0"/>
          </a:p>
        </p:txBody>
      </p:sp>
      <p:sp>
        <p:nvSpPr>
          <p:cNvPr id="43" name="Text 41"/>
          <p:cNvSpPr/>
          <p:nvPr/>
        </p:nvSpPr>
        <p:spPr>
          <a:xfrm>
            <a:off x="5029200" y="26334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test_name</a:t>
            </a:r>
            <a:endParaRPr lang="en-US" sz="800" dirty="0"/>
          </a:p>
        </p:txBody>
      </p:sp>
      <p:sp>
        <p:nvSpPr>
          <p:cNvPr id="44" name="Text 42"/>
          <p:cNvSpPr/>
          <p:nvPr/>
        </p:nvSpPr>
        <p:spPr>
          <a:xfrm>
            <a:off x="5029200" y="28620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result_value</a:t>
            </a:r>
            <a:endParaRPr lang="en-US" sz="800" dirty="0"/>
          </a:p>
        </p:txBody>
      </p:sp>
      <p:sp>
        <p:nvSpPr>
          <p:cNvPr id="45" name="Text 43"/>
          <p:cNvSpPr/>
          <p:nvPr/>
        </p:nvSpPr>
        <p:spPr>
          <a:xfrm>
            <a:off x="5029200" y="3090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unit</a:t>
            </a:r>
            <a:endParaRPr lang="en-US" sz="800" dirty="0"/>
          </a:p>
        </p:txBody>
      </p:sp>
      <p:sp>
        <p:nvSpPr>
          <p:cNvPr id="46" name="Text 44"/>
          <p:cNvSpPr/>
          <p:nvPr/>
        </p:nvSpPr>
        <p:spPr>
          <a:xfrm>
            <a:off x="5029200" y="3319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reference_range</a:t>
            </a:r>
            <a:endParaRPr lang="en-US" sz="800" dirty="0"/>
          </a:p>
        </p:txBody>
      </p:sp>
      <p:sp>
        <p:nvSpPr>
          <p:cNvPr id="47" name="Text 45"/>
          <p:cNvSpPr/>
          <p:nvPr/>
        </p:nvSpPr>
        <p:spPr>
          <a:xfrm>
            <a:off x="5029200" y="35478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status</a:t>
            </a:r>
            <a:endParaRPr lang="en-US" sz="800" dirty="0"/>
          </a:p>
        </p:txBody>
      </p:sp>
      <p:sp>
        <p:nvSpPr>
          <p:cNvPr id="48" name="Shape 46"/>
          <p:cNvSpPr/>
          <p:nvPr/>
        </p:nvSpPr>
        <p:spPr>
          <a:xfrm>
            <a:off x="5010912" y="5029200"/>
            <a:ext cx="2029968" cy="256032"/>
          </a:xfrm>
          <a:prstGeom prst="rect">
            <a:avLst/>
          </a:prstGeom>
          <a:solidFill>
            <a:srgbClr val="FEF3C7"/>
          </a:solidFill>
          <a:ln w="12700">
            <a:solidFill>
              <a:srgbClr val="D97706"/>
            </a:solidFill>
            <a:prstDash val="solid"/>
          </a:ln>
        </p:spPr>
      </p:sp>
      <p:sp>
        <p:nvSpPr>
          <p:cNvPr id="49" name="Text 47"/>
          <p:cNvSpPr/>
          <p:nvPr/>
        </p:nvSpPr>
        <p:spPr>
          <a:xfrm>
            <a:off x="5010912" y="5029200"/>
            <a:ext cx="2029968" cy="256032"/>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LOINC (10839-9, 718-7…)</a:t>
            </a:r>
            <a:endParaRPr lang="en-US" sz="750" dirty="0"/>
          </a:p>
        </p:txBody>
      </p:sp>
      <p:sp>
        <p:nvSpPr>
          <p:cNvPr id="50" name="Shape 48"/>
          <p:cNvSpPr/>
          <p:nvPr/>
        </p:nvSpPr>
        <p:spPr>
          <a:xfrm>
            <a:off x="7223760" y="1115568"/>
            <a:ext cx="2176272" cy="51663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51" name="Shape 49"/>
          <p:cNvSpPr/>
          <p:nvPr/>
        </p:nvSpPr>
        <p:spPr>
          <a:xfrm>
            <a:off x="7223760" y="1115568"/>
            <a:ext cx="2176272" cy="566928"/>
          </a:xfrm>
          <a:prstGeom prst="rect">
            <a:avLst/>
          </a:prstGeom>
          <a:solidFill>
            <a:srgbClr val="EA580C"/>
          </a:solidFill>
          <a:ln w="12700">
            <a:solidFill>
              <a:srgbClr val="EA580C"/>
            </a:solidFill>
            <a:prstDash val="solid"/>
          </a:ln>
        </p:spPr>
      </p:sp>
      <p:sp>
        <p:nvSpPr>
          <p:cNvPr id="52" name="Text 50"/>
          <p:cNvSpPr/>
          <p:nvPr/>
        </p:nvSpPr>
        <p:spPr>
          <a:xfrm>
            <a:off x="7278624" y="1115568"/>
            <a:ext cx="2066544" cy="347472"/>
          </a:xfrm>
          <a:prstGeom prst="rect">
            <a:avLst/>
          </a:prstGeom>
          <a:noFill/>
          <a:ln/>
        </p:spPr>
        <p:txBody>
          <a:bodyPr wrap="square" lIns="0" tIns="0" rIns="0" bIns="0" rtlCol="0" anchor="b"/>
          <a:lstStyle/>
          <a:p>
            <a:pPr algn="ctr" indent="0" marL="0">
              <a:buNone/>
            </a:pPr>
            <a:r>
              <a:rPr lang="en-US" sz="900" b="1" dirty="0">
                <a:solidFill>
                  <a:srgbClr val="FFFFFF"/>
                </a:solidFill>
                <a:latin typeface="Calibri" pitchFamily="34" charset="0"/>
                <a:ea typeface="Calibri" pitchFamily="34" charset="-122"/>
                <a:cs typeface="Calibri" pitchFamily="34" charset="-120"/>
              </a:rPr>
              <a:t>radiology.db</a:t>
            </a:r>
            <a:endParaRPr lang="en-US" sz="900" dirty="0"/>
          </a:p>
        </p:txBody>
      </p:sp>
      <p:sp>
        <p:nvSpPr>
          <p:cNvPr id="53" name="Text 51"/>
          <p:cNvSpPr/>
          <p:nvPr/>
        </p:nvSpPr>
        <p:spPr>
          <a:xfrm>
            <a:off x="7278624" y="1444752"/>
            <a:ext cx="2066544" cy="201168"/>
          </a:xfrm>
          <a:prstGeom prst="rect">
            <a:avLst/>
          </a:prstGeom>
          <a:noFill/>
          <a:ln/>
        </p:spPr>
        <p:txBody>
          <a:bodyPr wrap="square" lIns="0" tIns="0" rIns="0" bIns="0" rtlCol="0" anchor="ctr"/>
          <a:lstStyle/>
          <a:p>
            <a:pPr algn="ctr" indent="0" marL="0">
              <a:buNone/>
            </a:pPr>
            <a:r>
              <a:rPr lang="en-US" sz="750" dirty="0">
                <a:solidFill>
                  <a:srgbClr val="BFDBFE"/>
                </a:solidFill>
                <a:latin typeface="Calibri" pitchFamily="34" charset="0"/>
                <a:ea typeface="Calibri" pitchFamily="34" charset="-122"/>
                <a:cs typeface="Calibri" pitchFamily="34" charset="-120"/>
              </a:rPr>
              <a:t>table: requests</a:t>
            </a:r>
            <a:endParaRPr lang="en-US" sz="750" dirty="0"/>
          </a:p>
        </p:txBody>
      </p:sp>
      <p:sp>
        <p:nvSpPr>
          <p:cNvPr id="54" name="Text 52"/>
          <p:cNvSpPr/>
          <p:nvPr/>
        </p:nvSpPr>
        <p:spPr>
          <a:xfrm>
            <a:off x="7315200" y="1764792"/>
            <a:ext cx="2029968" cy="182880"/>
          </a:xfrm>
          <a:prstGeom prst="rect">
            <a:avLst/>
          </a:prstGeom>
          <a:noFill/>
          <a:ln/>
        </p:spPr>
        <p:txBody>
          <a:bodyPr wrap="square" lIns="0" tIns="0" rIns="0" bIns="0" rtlCol="0" anchor="ctr"/>
          <a:lstStyle/>
          <a:p>
            <a:pPr indent="0" marL="0">
              <a:buNone/>
            </a:pPr>
            <a:r>
              <a:rPr lang="en-US" sz="700" b="1" spc="100" kern="0" dirty="0">
                <a:solidFill>
                  <a:srgbClr val="475569"/>
                </a:solidFill>
                <a:latin typeface="Calibri" pitchFamily="34" charset="0"/>
                <a:ea typeface="Calibri" pitchFamily="34" charset="-122"/>
                <a:cs typeface="Calibri" pitchFamily="34" charset="-120"/>
              </a:rPr>
              <a:t>FIELDS</a:t>
            </a:r>
            <a:endParaRPr lang="en-US" sz="700" dirty="0"/>
          </a:p>
        </p:txBody>
      </p:sp>
      <p:sp>
        <p:nvSpPr>
          <p:cNvPr id="55" name="Text 53"/>
          <p:cNvSpPr/>
          <p:nvPr/>
        </p:nvSpPr>
        <p:spPr>
          <a:xfrm>
            <a:off x="7315200" y="1947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id</a:t>
            </a:r>
            <a:endParaRPr lang="en-US" sz="800" dirty="0"/>
          </a:p>
        </p:txBody>
      </p:sp>
      <p:sp>
        <p:nvSpPr>
          <p:cNvPr id="56" name="Text 54"/>
          <p:cNvSpPr/>
          <p:nvPr/>
        </p:nvSpPr>
        <p:spPr>
          <a:xfrm>
            <a:off x="7315200" y="2176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patient_name</a:t>
            </a:r>
            <a:endParaRPr lang="en-US" sz="800" dirty="0"/>
          </a:p>
        </p:txBody>
      </p:sp>
      <p:sp>
        <p:nvSpPr>
          <p:cNvPr id="57" name="Text 55"/>
          <p:cNvSpPr/>
          <p:nvPr/>
        </p:nvSpPr>
        <p:spPr>
          <a:xfrm>
            <a:off x="7315200" y="24048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modality</a:t>
            </a:r>
            <a:endParaRPr lang="en-US" sz="800" dirty="0"/>
          </a:p>
        </p:txBody>
      </p:sp>
      <p:sp>
        <p:nvSpPr>
          <p:cNvPr id="58" name="Text 56"/>
          <p:cNvSpPr/>
          <p:nvPr/>
        </p:nvSpPr>
        <p:spPr>
          <a:xfrm>
            <a:off x="7315200" y="26334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snomed_procedure_code</a:t>
            </a:r>
            <a:endParaRPr lang="en-US" sz="800" dirty="0"/>
          </a:p>
        </p:txBody>
      </p:sp>
      <p:sp>
        <p:nvSpPr>
          <p:cNvPr id="59" name="Text 57"/>
          <p:cNvSpPr/>
          <p:nvPr/>
        </p:nvSpPr>
        <p:spPr>
          <a:xfrm>
            <a:off x="7315200" y="28620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procedure_name</a:t>
            </a:r>
            <a:endParaRPr lang="en-US" sz="800" dirty="0"/>
          </a:p>
        </p:txBody>
      </p:sp>
      <p:sp>
        <p:nvSpPr>
          <p:cNvPr id="60" name="Text 58"/>
          <p:cNvSpPr/>
          <p:nvPr/>
        </p:nvSpPr>
        <p:spPr>
          <a:xfrm>
            <a:off x="7315200" y="3090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report_text</a:t>
            </a:r>
            <a:endParaRPr lang="en-US" sz="800" dirty="0"/>
          </a:p>
        </p:txBody>
      </p:sp>
      <p:sp>
        <p:nvSpPr>
          <p:cNvPr id="61" name="Shape 59"/>
          <p:cNvSpPr/>
          <p:nvPr/>
        </p:nvSpPr>
        <p:spPr>
          <a:xfrm>
            <a:off x="7296912" y="5029200"/>
            <a:ext cx="2029968" cy="256032"/>
          </a:xfrm>
          <a:prstGeom prst="rect">
            <a:avLst/>
          </a:prstGeom>
          <a:solidFill>
            <a:srgbClr val="FEF3C7"/>
          </a:solidFill>
          <a:ln w="12700">
            <a:solidFill>
              <a:srgbClr val="D97706"/>
            </a:solidFill>
            <a:prstDash val="solid"/>
          </a:ln>
        </p:spPr>
      </p:sp>
      <p:sp>
        <p:nvSpPr>
          <p:cNvPr id="62" name="Text 60"/>
          <p:cNvSpPr/>
          <p:nvPr/>
        </p:nvSpPr>
        <p:spPr>
          <a:xfrm>
            <a:off x="7296912" y="5029200"/>
            <a:ext cx="2029968" cy="256032"/>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SNOMED CT (399208008)</a:t>
            </a:r>
            <a:endParaRPr lang="en-US" sz="750" dirty="0"/>
          </a:p>
        </p:txBody>
      </p:sp>
      <p:sp>
        <p:nvSpPr>
          <p:cNvPr id="63" name="Shape 61"/>
          <p:cNvSpPr/>
          <p:nvPr/>
        </p:nvSpPr>
        <p:spPr>
          <a:xfrm>
            <a:off x="9509760" y="1115568"/>
            <a:ext cx="2176272" cy="5166360"/>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8000"/>
              </a:srgbClr>
            </a:outerShdw>
          </a:effectLst>
        </p:spPr>
      </p:sp>
      <p:sp>
        <p:nvSpPr>
          <p:cNvPr id="64" name="Shape 62"/>
          <p:cNvSpPr/>
          <p:nvPr/>
        </p:nvSpPr>
        <p:spPr>
          <a:xfrm>
            <a:off x="9509760" y="1115568"/>
            <a:ext cx="2176272" cy="566928"/>
          </a:xfrm>
          <a:prstGeom prst="rect">
            <a:avLst/>
          </a:prstGeom>
          <a:solidFill>
            <a:srgbClr val="059669"/>
          </a:solidFill>
          <a:ln w="12700">
            <a:solidFill>
              <a:srgbClr val="059669"/>
            </a:solidFill>
            <a:prstDash val="solid"/>
          </a:ln>
        </p:spPr>
      </p:sp>
      <p:sp>
        <p:nvSpPr>
          <p:cNvPr id="65" name="Text 63"/>
          <p:cNvSpPr/>
          <p:nvPr/>
        </p:nvSpPr>
        <p:spPr>
          <a:xfrm>
            <a:off x="9564624" y="1115568"/>
            <a:ext cx="2066544" cy="347472"/>
          </a:xfrm>
          <a:prstGeom prst="rect">
            <a:avLst/>
          </a:prstGeom>
          <a:noFill/>
          <a:ln/>
        </p:spPr>
        <p:txBody>
          <a:bodyPr wrap="square" lIns="0" tIns="0" rIns="0" bIns="0" rtlCol="0" anchor="b"/>
          <a:lstStyle/>
          <a:p>
            <a:pPr algn="ctr" indent="0" marL="0">
              <a:buNone/>
            </a:pPr>
            <a:r>
              <a:rPr lang="en-US" sz="900" b="1" dirty="0">
                <a:solidFill>
                  <a:srgbClr val="FFFFFF"/>
                </a:solidFill>
                <a:latin typeface="Calibri" pitchFamily="34" charset="0"/>
                <a:ea typeface="Calibri" pitchFamily="34" charset="-122"/>
                <a:cs typeface="Calibri" pitchFamily="34" charset="-120"/>
              </a:rPr>
              <a:t>pharmacy.db</a:t>
            </a:r>
            <a:endParaRPr lang="en-US" sz="900" dirty="0"/>
          </a:p>
        </p:txBody>
      </p:sp>
      <p:sp>
        <p:nvSpPr>
          <p:cNvPr id="66" name="Text 64"/>
          <p:cNvSpPr/>
          <p:nvPr/>
        </p:nvSpPr>
        <p:spPr>
          <a:xfrm>
            <a:off x="9564624" y="1444752"/>
            <a:ext cx="2066544" cy="201168"/>
          </a:xfrm>
          <a:prstGeom prst="rect">
            <a:avLst/>
          </a:prstGeom>
          <a:noFill/>
          <a:ln/>
        </p:spPr>
        <p:txBody>
          <a:bodyPr wrap="square" lIns="0" tIns="0" rIns="0" bIns="0" rtlCol="0" anchor="ctr"/>
          <a:lstStyle/>
          <a:p>
            <a:pPr algn="ctr" indent="0" marL="0">
              <a:buNone/>
            </a:pPr>
            <a:r>
              <a:rPr lang="en-US" sz="750" dirty="0">
                <a:solidFill>
                  <a:srgbClr val="BFDBFE"/>
                </a:solidFill>
                <a:latin typeface="Calibri" pitchFamily="34" charset="0"/>
                <a:ea typeface="Calibri" pitchFamily="34" charset="-122"/>
                <a:cs typeface="Calibri" pitchFamily="34" charset="-120"/>
              </a:rPr>
              <a:t>table: medications</a:t>
            </a:r>
            <a:endParaRPr lang="en-US" sz="750" dirty="0"/>
          </a:p>
        </p:txBody>
      </p:sp>
      <p:sp>
        <p:nvSpPr>
          <p:cNvPr id="67" name="Text 65"/>
          <p:cNvSpPr/>
          <p:nvPr/>
        </p:nvSpPr>
        <p:spPr>
          <a:xfrm>
            <a:off x="9601200" y="1764792"/>
            <a:ext cx="2029968" cy="182880"/>
          </a:xfrm>
          <a:prstGeom prst="rect">
            <a:avLst/>
          </a:prstGeom>
          <a:noFill/>
          <a:ln/>
        </p:spPr>
        <p:txBody>
          <a:bodyPr wrap="square" lIns="0" tIns="0" rIns="0" bIns="0" rtlCol="0" anchor="ctr"/>
          <a:lstStyle/>
          <a:p>
            <a:pPr indent="0" marL="0">
              <a:buNone/>
            </a:pPr>
            <a:r>
              <a:rPr lang="en-US" sz="700" b="1" spc="100" kern="0" dirty="0">
                <a:solidFill>
                  <a:srgbClr val="475569"/>
                </a:solidFill>
                <a:latin typeface="Calibri" pitchFamily="34" charset="0"/>
                <a:ea typeface="Calibri" pitchFamily="34" charset="-122"/>
                <a:cs typeface="Calibri" pitchFamily="34" charset="-120"/>
              </a:rPr>
              <a:t>FIELDS</a:t>
            </a:r>
            <a:endParaRPr lang="en-US" sz="700" dirty="0"/>
          </a:p>
        </p:txBody>
      </p:sp>
      <p:sp>
        <p:nvSpPr>
          <p:cNvPr id="68" name="Text 66"/>
          <p:cNvSpPr/>
          <p:nvPr/>
        </p:nvSpPr>
        <p:spPr>
          <a:xfrm>
            <a:off x="9601200" y="1947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id</a:t>
            </a:r>
            <a:endParaRPr lang="en-US" sz="800" dirty="0"/>
          </a:p>
        </p:txBody>
      </p:sp>
      <p:sp>
        <p:nvSpPr>
          <p:cNvPr id="69" name="Text 67"/>
          <p:cNvSpPr/>
          <p:nvPr/>
        </p:nvSpPr>
        <p:spPr>
          <a:xfrm>
            <a:off x="9601200" y="2176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patient_name</a:t>
            </a:r>
            <a:endParaRPr lang="en-US" sz="800" dirty="0"/>
          </a:p>
        </p:txBody>
      </p:sp>
      <p:sp>
        <p:nvSpPr>
          <p:cNvPr id="70" name="Text 68"/>
          <p:cNvSpPr/>
          <p:nvPr/>
        </p:nvSpPr>
        <p:spPr>
          <a:xfrm>
            <a:off x="9601200" y="24048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rxnorm_code</a:t>
            </a:r>
            <a:endParaRPr lang="en-US" sz="800" dirty="0"/>
          </a:p>
        </p:txBody>
      </p:sp>
      <p:sp>
        <p:nvSpPr>
          <p:cNvPr id="71" name="Text 69"/>
          <p:cNvSpPr/>
          <p:nvPr/>
        </p:nvSpPr>
        <p:spPr>
          <a:xfrm>
            <a:off x="9601200" y="26334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drug_name</a:t>
            </a:r>
            <a:endParaRPr lang="en-US" sz="800" dirty="0"/>
          </a:p>
        </p:txBody>
      </p:sp>
      <p:sp>
        <p:nvSpPr>
          <p:cNvPr id="72" name="Text 70"/>
          <p:cNvSpPr/>
          <p:nvPr/>
        </p:nvSpPr>
        <p:spPr>
          <a:xfrm>
            <a:off x="9601200" y="28620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dose</a:t>
            </a:r>
            <a:endParaRPr lang="en-US" sz="800" dirty="0"/>
          </a:p>
        </p:txBody>
      </p:sp>
      <p:sp>
        <p:nvSpPr>
          <p:cNvPr id="73" name="Text 71"/>
          <p:cNvSpPr/>
          <p:nvPr/>
        </p:nvSpPr>
        <p:spPr>
          <a:xfrm>
            <a:off x="9601200" y="30906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frequency</a:t>
            </a:r>
            <a:endParaRPr lang="en-US" sz="800" dirty="0"/>
          </a:p>
        </p:txBody>
      </p:sp>
      <p:sp>
        <p:nvSpPr>
          <p:cNvPr id="74" name="Text 72"/>
          <p:cNvSpPr/>
          <p:nvPr/>
        </p:nvSpPr>
        <p:spPr>
          <a:xfrm>
            <a:off x="9601200" y="3319272"/>
            <a:ext cx="2029968" cy="219456"/>
          </a:xfrm>
          <a:prstGeom prst="rect">
            <a:avLst/>
          </a:prstGeom>
          <a:noFill/>
          <a:ln/>
        </p:spPr>
        <p:txBody>
          <a:bodyPr wrap="square" lIns="0" tIns="0" rIns="0" bIns="0" rtlCol="0" anchor="ctr"/>
          <a:lstStyle/>
          <a:p>
            <a:pPr indent="0" marL="0">
              <a:buNone/>
            </a:pPr>
            <a:r>
              <a:rPr lang="en-US" sz="800" dirty="0">
                <a:solidFill>
                  <a:srgbClr val="0F172A"/>
                </a:solidFill>
                <a:latin typeface="Calibri" pitchFamily="34" charset="0"/>
                <a:ea typeface="Calibri" pitchFamily="34" charset="-122"/>
                <a:cs typeface="Calibri" pitchFamily="34" charset="-120"/>
              </a:rPr>
              <a:t>→ prescriber</a:t>
            </a:r>
            <a:endParaRPr lang="en-US" sz="800" dirty="0"/>
          </a:p>
        </p:txBody>
      </p:sp>
      <p:sp>
        <p:nvSpPr>
          <p:cNvPr id="75" name="Shape 73"/>
          <p:cNvSpPr/>
          <p:nvPr/>
        </p:nvSpPr>
        <p:spPr>
          <a:xfrm>
            <a:off x="9582912" y="5029200"/>
            <a:ext cx="2029968" cy="256032"/>
          </a:xfrm>
          <a:prstGeom prst="rect">
            <a:avLst/>
          </a:prstGeom>
          <a:solidFill>
            <a:srgbClr val="FEF3C7"/>
          </a:solidFill>
          <a:ln w="12700">
            <a:solidFill>
              <a:srgbClr val="D97706"/>
            </a:solidFill>
            <a:prstDash val="solid"/>
          </a:ln>
        </p:spPr>
      </p:sp>
      <p:sp>
        <p:nvSpPr>
          <p:cNvPr id="76" name="Text 74"/>
          <p:cNvSpPr/>
          <p:nvPr/>
        </p:nvSpPr>
        <p:spPr>
          <a:xfrm>
            <a:off x="9582912" y="5029200"/>
            <a:ext cx="2029968" cy="256032"/>
          </a:xfrm>
          <a:prstGeom prst="rect">
            <a:avLst/>
          </a:prstGeom>
          <a:noFill/>
          <a:ln/>
        </p:spPr>
        <p:txBody>
          <a:bodyPr wrap="square" lIns="0" tIns="0" rIns="0" bIns="0" rtlCol="0" anchor="ctr"/>
          <a:lstStyle/>
          <a:p>
            <a:pPr algn="ctr" indent="0" marL="0">
              <a:buNone/>
            </a:pPr>
            <a:r>
              <a:rPr lang="en-US" sz="750" b="1" dirty="0">
                <a:solidFill>
                  <a:srgbClr val="D97706"/>
                </a:solidFill>
                <a:latin typeface="Calibri" pitchFamily="34" charset="0"/>
                <a:ea typeface="Calibri" pitchFamily="34" charset="-122"/>
                <a:cs typeface="Calibri" pitchFamily="34" charset="-120"/>
              </a:rPr>
              <a:t>RxNorm (1191, 308460…)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E40AF"/>
          </a:solidFill>
          <a:ln w="12700">
            <a:solidFill>
              <a:srgbClr val="1E40AF"/>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Channel 1: GP Clinic → Hospital ED</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HL7 v2 ADT^A01  |  ICD-10 terminology mapping</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11155680" y="91440"/>
            <a:ext cx="685800" cy="320040"/>
          </a:xfrm>
          <a:prstGeom prst="rect">
            <a:avLst/>
          </a:prstGeom>
          <a:solidFill>
            <a:srgbClr val="1E40AF"/>
          </a:solidFill>
          <a:ln w="12700">
            <a:solidFill>
              <a:srgbClr val="1E40AF"/>
            </a:solidFill>
            <a:prstDash val="solid"/>
          </a:ln>
        </p:spPr>
      </p:sp>
      <p:sp>
        <p:nvSpPr>
          <p:cNvPr id="9" name="Text 7"/>
          <p:cNvSpPr/>
          <p:nvPr/>
        </p:nvSpPr>
        <p:spPr>
          <a:xfrm>
            <a:off x="11155680" y="91440"/>
            <a:ext cx="6858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 1</a:t>
            </a:r>
            <a:endParaRPr lang="en-US" sz="1000" dirty="0"/>
          </a:p>
        </p:txBody>
      </p:sp>
      <p:sp>
        <p:nvSpPr>
          <p:cNvPr id="10" name="Shape 8"/>
          <p:cNvSpPr/>
          <p:nvPr/>
        </p:nvSpPr>
        <p:spPr>
          <a:xfrm>
            <a:off x="365760" y="1097280"/>
            <a:ext cx="5029200" cy="2331720"/>
          </a:xfrm>
          <a:prstGeom prst="rect">
            <a:avLst/>
          </a:prstGeom>
          <a:solidFill>
            <a:srgbClr val="EFF6FF"/>
          </a:solidFill>
          <a:ln w="6350">
            <a:solidFill>
              <a:srgbClr val="BFDBFE"/>
            </a:solidFill>
            <a:prstDash val="solid"/>
          </a:ln>
          <a:effectLst>
            <a:outerShdw sx="100000" sy="100000" kx="0" ky="0" algn="bl" rotWithShape="0" blurRad="76200" dist="25400" dir="8100000">
              <a:srgbClr val="000000">
                <a:alpha val="8000"/>
              </a:srgbClr>
            </a:outerShdw>
          </a:effectLst>
        </p:spPr>
      </p:sp>
      <p:sp>
        <p:nvSpPr>
          <p:cNvPr id="11" name="Text 9"/>
          <p:cNvSpPr/>
          <p:nvPr/>
        </p:nvSpPr>
        <p:spPr>
          <a:xfrm>
            <a:off x="502920" y="1188720"/>
            <a:ext cx="1371600" cy="201168"/>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SOURCE</a:t>
            </a:r>
            <a:endParaRPr lang="en-US" sz="700" dirty="0"/>
          </a:p>
        </p:txBody>
      </p:sp>
      <p:sp>
        <p:nvSpPr>
          <p:cNvPr id="12" name="Text 10"/>
          <p:cNvSpPr/>
          <p:nvPr/>
        </p:nvSpPr>
        <p:spPr>
          <a:xfrm>
            <a:off x="502920" y="1371600"/>
            <a:ext cx="475488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GP Clinic — Flat SQLite record</a:t>
            </a:r>
            <a:endParaRPr lang="en-US" sz="1000" dirty="0"/>
          </a:p>
        </p:txBody>
      </p:sp>
      <p:sp>
        <p:nvSpPr>
          <p:cNvPr id="13" name="Text 11"/>
          <p:cNvSpPr/>
          <p:nvPr/>
        </p:nvSpPr>
        <p:spPr>
          <a:xfrm>
            <a:off x="457200" y="1664208"/>
            <a:ext cx="4892040" cy="1664208"/>
          </a:xfrm>
          <a:prstGeom prst="rect">
            <a:avLst/>
          </a:prstGeom>
          <a:noFill/>
          <a:ln/>
        </p:spPr>
        <p:txBody>
          <a:bodyPr wrap="square" lIns="0" tIns="0" rIns="0" bIns="0" rtlCol="0" anchor="t"/>
          <a:lstStyle/>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id:                  000001</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name:                Fadi Halaweh</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dob:                 1985-03-12</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gender:              M</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local_diagnosis_code: CP-05</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diagnosis_text:      Chest pain radiating to left arm</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referred_to:         Cardiology</a:t>
            </a:r>
            <a:endParaRPr lang="en-US" sz="800" dirty="0"/>
          </a:p>
        </p:txBody>
      </p:sp>
      <p:sp>
        <p:nvSpPr>
          <p:cNvPr id="14" name="Shape 12"/>
          <p:cNvSpPr/>
          <p:nvPr/>
        </p:nvSpPr>
        <p:spPr>
          <a:xfrm>
            <a:off x="5577840" y="2148840"/>
            <a:ext cx="822960" cy="27432"/>
          </a:xfrm>
          <a:prstGeom prst="rect">
            <a:avLst/>
          </a:prstGeom>
          <a:solidFill>
            <a:srgbClr val="1E40AF"/>
          </a:solidFill>
          <a:ln w="12700">
            <a:solidFill>
              <a:srgbClr val="1E40AF"/>
            </a:solidFill>
            <a:prstDash val="solid"/>
          </a:ln>
        </p:spPr>
      </p:sp>
      <p:sp>
        <p:nvSpPr>
          <p:cNvPr id="15" name="Text 13"/>
          <p:cNvSpPr/>
          <p:nvPr/>
        </p:nvSpPr>
        <p:spPr>
          <a:xfrm>
            <a:off x="5486400" y="1965960"/>
            <a:ext cx="1005840" cy="384048"/>
          </a:xfrm>
          <a:prstGeom prst="rect">
            <a:avLst/>
          </a:prstGeom>
          <a:noFill/>
          <a:ln/>
        </p:spPr>
        <p:txBody>
          <a:bodyPr wrap="square" lIns="0" tIns="0" rIns="0" bIns="0" rtlCol="0" anchor="ctr"/>
          <a:lstStyle/>
          <a:p>
            <a:pPr algn="ctr" indent="0" marL="0">
              <a:buNone/>
            </a:pPr>
            <a:r>
              <a:rPr lang="en-US" sz="2000" b="1" dirty="0">
                <a:solidFill>
                  <a:srgbClr val="1E40AF"/>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583680" y="1097280"/>
            <a:ext cx="5212080" cy="2331720"/>
          </a:xfrm>
          <a:prstGeom prst="rect">
            <a:avLst/>
          </a:prstGeom>
          <a:solidFill>
            <a:srgbClr val="F0FDF4"/>
          </a:solidFill>
          <a:ln w="6350">
            <a:solidFill>
              <a:srgbClr val="BBF7D0"/>
            </a:solidFill>
            <a:prstDash val="solid"/>
          </a:ln>
          <a:effectLst>
            <a:outerShdw sx="100000" sy="100000" kx="0" ky="0" algn="bl" rotWithShape="0" blurRad="76200" dist="25400" dir="8100000">
              <a:srgbClr val="000000">
                <a:alpha val="8000"/>
              </a:srgbClr>
            </a:outerShdw>
          </a:effectLst>
        </p:spPr>
      </p:sp>
      <p:sp>
        <p:nvSpPr>
          <p:cNvPr id="17" name="Text 15"/>
          <p:cNvSpPr/>
          <p:nvPr/>
        </p:nvSpPr>
        <p:spPr>
          <a:xfrm>
            <a:off x="6720840" y="1188720"/>
            <a:ext cx="182880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DESTINATION</a:t>
            </a:r>
            <a:endParaRPr lang="en-US" sz="700" dirty="0"/>
          </a:p>
        </p:txBody>
      </p:sp>
      <p:sp>
        <p:nvSpPr>
          <p:cNvPr id="18" name="Text 16"/>
          <p:cNvSpPr/>
          <p:nvPr/>
        </p:nvSpPr>
        <p:spPr>
          <a:xfrm>
            <a:off x="6720840" y="1371600"/>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Hospital ED — HL7 v2 ADT^A01 message</a:t>
            </a:r>
            <a:endParaRPr lang="en-US" sz="1000" dirty="0"/>
          </a:p>
        </p:txBody>
      </p:sp>
      <p:sp>
        <p:nvSpPr>
          <p:cNvPr id="19" name="Text 17"/>
          <p:cNvSpPr/>
          <p:nvPr/>
        </p:nvSpPr>
        <p:spPr>
          <a:xfrm>
            <a:off x="6583680" y="1664208"/>
            <a:ext cx="5074920" cy="1664208"/>
          </a:xfrm>
          <a:prstGeom prst="rect">
            <a:avLst/>
          </a:prstGeom>
          <a:noFill/>
          <a:ln/>
        </p:spPr>
        <p:txBody>
          <a:bodyPr wrap="square" lIns="0" tIns="0" rIns="0" bIns="0" rtlCol="0" anchor="t"/>
          <a:lstStyle/>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MSH|^~\&amp;|GP_CLINIC|AL-NOUR|HOSPITAL_ED|CITY_HOSP|...|ADT^A01</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PID|1||000001^^^GP_CLINIC||Fadi^Halaweh||19850312|M</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PV1|1|E|ED^01^A|||||||Cardiology</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DG1|1||I21.9^Acute myocardial infarction^ICD10|...|A</a:t>
            </a:r>
            <a:endParaRPr lang="en-US" sz="750" dirty="0"/>
          </a:p>
        </p:txBody>
      </p:sp>
      <p:sp>
        <p:nvSpPr>
          <p:cNvPr id="20" name="Shape 18"/>
          <p:cNvSpPr/>
          <p:nvPr/>
        </p:nvSpPr>
        <p:spPr>
          <a:xfrm>
            <a:off x="365760" y="3602736"/>
            <a:ext cx="3773424" cy="1938528"/>
          </a:xfrm>
          <a:prstGeom prst="rect">
            <a:avLst/>
          </a:prstGeom>
          <a:solidFill>
            <a:srgbClr val="DBEAFE"/>
          </a:solidFill>
          <a:ln w="6350">
            <a:solidFill>
              <a:srgbClr val="1E40AF"/>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365760" y="3602736"/>
            <a:ext cx="45720" cy="1938528"/>
          </a:xfrm>
          <a:prstGeom prst="rect">
            <a:avLst/>
          </a:prstGeom>
          <a:solidFill>
            <a:srgbClr val="1E40AF"/>
          </a:solidFill>
          <a:ln w="12700">
            <a:solidFill>
              <a:srgbClr val="1E40AF"/>
            </a:solidFill>
            <a:prstDash val="solid"/>
          </a:ln>
        </p:spPr>
      </p:sp>
      <p:sp>
        <p:nvSpPr>
          <p:cNvPr id="22" name="Text 20"/>
          <p:cNvSpPr/>
          <p:nvPr/>
        </p:nvSpPr>
        <p:spPr>
          <a:xfrm>
            <a:off x="493776" y="3694176"/>
            <a:ext cx="3535680" cy="237744"/>
          </a:xfrm>
          <a:prstGeom prst="rect">
            <a:avLst/>
          </a:prstGeom>
          <a:noFill/>
          <a:ln/>
        </p:spPr>
        <p:txBody>
          <a:bodyPr wrap="square" lIns="0" tIns="0" rIns="0" bIns="0" rtlCol="0" anchor="ctr"/>
          <a:lstStyle/>
          <a:p>
            <a:pPr indent="0" marL="0">
              <a:buNone/>
            </a:pPr>
            <a:r>
              <a:rPr lang="en-US" sz="800" b="1" spc="200" kern="0" dirty="0">
                <a:solidFill>
                  <a:srgbClr val="1E40AF"/>
                </a:solidFill>
                <a:latin typeface="Calibri" pitchFamily="34" charset="0"/>
                <a:ea typeface="Calibri" pitchFamily="34" charset="-122"/>
                <a:cs typeface="Calibri" pitchFamily="34" charset="-120"/>
              </a:rPr>
              <a:t>STRUCTURAL</a:t>
            </a:r>
            <a:endParaRPr lang="en-US" sz="800" dirty="0"/>
          </a:p>
        </p:txBody>
      </p:sp>
      <p:sp>
        <p:nvSpPr>
          <p:cNvPr id="23" name="Text 21"/>
          <p:cNvSpPr/>
          <p:nvPr/>
        </p:nvSpPr>
        <p:spPr>
          <a:xfrm>
            <a:off x="493776"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Flat CSV-style SQLite row → HL7 v2 ADT^A01 message with MSH, PID, PV1, DG1 segments</a:t>
            </a:r>
            <a:endParaRPr lang="en-US" sz="950" dirty="0"/>
          </a:p>
        </p:txBody>
      </p:sp>
      <p:sp>
        <p:nvSpPr>
          <p:cNvPr id="24" name="Shape 22"/>
          <p:cNvSpPr/>
          <p:nvPr/>
        </p:nvSpPr>
        <p:spPr>
          <a:xfrm>
            <a:off x="4212336" y="3602736"/>
            <a:ext cx="3773424" cy="1938528"/>
          </a:xfrm>
          <a:prstGeom prst="rect">
            <a:avLst/>
          </a:prstGeom>
          <a:solidFill>
            <a:srgbClr val="D1FAE5"/>
          </a:solidFill>
          <a:ln w="6350">
            <a:solidFill>
              <a:srgbClr val="0D9488"/>
            </a:solidFill>
            <a:prstDash val="solid"/>
          </a:ln>
          <a:effectLst>
            <a:outerShdw sx="100000" sy="100000" kx="0" ky="0" algn="bl" rotWithShape="0" blurRad="76200" dist="25400" dir="8100000">
              <a:srgbClr val="000000">
                <a:alpha val="8000"/>
              </a:srgbClr>
            </a:outerShdw>
          </a:effectLst>
        </p:spPr>
      </p:sp>
      <p:sp>
        <p:nvSpPr>
          <p:cNvPr id="25" name="Shape 23"/>
          <p:cNvSpPr/>
          <p:nvPr/>
        </p:nvSpPr>
        <p:spPr>
          <a:xfrm>
            <a:off x="4212336" y="3602736"/>
            <a:ext cx="45720" cy="1938528"/>
          </a:xfrm>
          <a:prstGeom prst="rect">
            <a:avLst/>
          </a:prstGeom>
          <a:solidFill>
            <a:srgbClr val="0D9488"/>
          </a:solidFill>
          <a:ln w="12700">
            <a:solidFill>
              <a:srgbClr val="0D9488"/>
            </a:solidFill>
            <a:prstDash val="solid"/>
          </a:ln>
        </p:spPr>
      </p:sp>
      <p:sp>
        <p:nvSpPr>
          <p:cNvPr id="26" name="Text 24"/>
          <p:cNvSpPr/>
          <p:nvPr/>
        </p:nvSpPr>
        <p:spPr>
          <a:xfrm>
            <a:off x="4340352" y="3694176"/>
            <a:ext cx="3535680" cy="237744"/>
          </a:xfrm>
          <a:prstGeom prst="rect">
            <a:avLst/>
          </a:prstGeom>
          <a:noFill/>
          <a:ln/>
        </p:spPr>
        <p:txBody>
          <a:bodyPr wrap="square" lIns="0" tIns="0" rIns="0" bIns="0"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SYNTACTIC</a:t>
            </a:r>
            <a:endParaRPr lang="en-US" sz="800" dirty="0"/>
          </a:p>
        </p:txBody>
      </p:sp>
      <p:sp>
        <p:nvSpPr>
          <p:cNvPr id="27" name="Text 25"/>
          <p:cNvSpPr/>
          <p:nvPr/>
        </p:nvSpPr>
        <p:spPr>
          <a:xfrm>
            <a:off x="4340352"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Pipe-delimited HL7 v2.5 encoding; ^ component separator; \r segment terminator</a:t>
            </a:r>
            <a:endParaRPr lang="en-US" sz="950" dirty="0"/>
          </a:p>
        </p:txBody>
      </p:sp>
      <p:sp>
        <p:nvSpPr>
          <p:cNvPr id="28" name="Shape 26"/>
          <p:cNvSpPr/>
          <p:nvPr/>
        </p:nvSpPr>
        <p:spPr>
          <a:xfrm>
            <a:off x="8058912" y="3602736"/>
            <a:ext cx="3773424" cy="1938528"/>
          </a:xfrm>
          <a:prstGeom prst="rect">
            <a:avLst/>
          </a:prstGeom>
          <a:solidFill>
            <a:srgbClr val="FEF3C7"/>
          </a:solidFill>
          <a:ln w="6350">
            <a:solidFill>
              <a:srgbClr val="D97706"/>
            </a:solidFill>
            <a:prstDash val="solid"/>
          </a:ln>
          <a:effectLst>
            <a:outerShdw sx="100000" sy="100000" kx="0" ky="0" algn="bl" rotWithShape="0" blurRad="76200" dist="25400" dir="8100000">
              <a:srgbClr val="000000">
                <a:alpha val="8000"/>
              </a:srgbClr>
            </a:outerShdw>
          </a:effectLst>
        </p:spPr>
      </p:sp>
      <p:sp>
        <p:nvSpPr>
          <p:cNvPr id="29" name="Shape 27"/>
          <p:cNvSpPr/>
          <p:nvPr/>
        </p:nvSpPr>
        <p:spPr>
          <a:xfrm>
            <a:off x="8058912" y="3602736"/>
            <a:ext cx="45720" cy="1938528"/>
          </a:xfrm>
          <a:prstGeom prst="rect">
            <a:avLst/>
          </a:prstGeom>
          <a:solidFill>
            <a:srgbClr val="D97706"/>
          </a:solidFill>
          <a:ln w="12700">
            <a:solidFill>
              <a:srgbClr val="D97706"/>
            </a:solidFill>
            <a:prstDash val="solid"/>
          </a:ln>
        </p:spPr>
      </p:sp>
      <p:sp>
        <p:nvSpPr>
          <p:cNvPr id="30" name="Text 28"/>
          <p:cNvSpPr/>
          <p:nvPr/>
        </p:nvSpPr>
        <p:spPr>
          <a:xfrm>
            <a:off x="8186928" y="3694176"/>
            <a:ext cx="3535680" cy="237744"/>
          </a:xfrm>
          <a:prstGeom prst="rect">
            <a:avLst/>
          </a:prstGeom>
          <a:noFill/>
          <a:ln/>
        </p:spPr>
        <p:txBody>
          <a:bodyPr wrap="square" lIns="0" tIns="0" rIns="0" bIns="0" rtlCol="0" anchor="ctr"/>
          <a:lstStyle/>
          <a:p>
            <a:pPr indent="0" marL="0">
              <a:buNone/>
            </a:pPr>
            <a:r>
              <a:rPr lang="en-US" sz="800" b="1" spc="200" kern="0" dirty="0">
                <a:solidFill>
                  <a:srgbClr val="D97706"/>
                </a:solidFill>
                <a:latin typeface="Calibri" pitchFamily="34" charset="0"/>
                <a:ea typeface="Calibri" pitchFamily="34" charset="-122"/>
                <a:cs typeface="Calibri" pitchFamily="34" charset="-120"/>
              </a:rPr>
              <a:t>SEMANTIC</a:t>
            </a:r>
            <a:endParaRPr lang="en-US" sz="800" dirty="0"/>
          </a:p>
        </p:txBody>
      </p:sp>
      <p:sp>
        <p:nvSpPr>
          <p:cNvPr id="31" name="Text 29"/>
          <p:cNvSpPr/>
          <p:nvPr/>
        </p:nvSpPr>
        <p:spPr>
          <a:xfrm>
            <a:off x="8186928"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Local GP code 'CP-05' → ICD-10 'I21.9' (Acute myocardial infarction, unspecified)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7C3AED"/>
          </a:solidFill>
          <a:ln w="12700">
            <a:solidFill>
              <a:srgbClr val="7C3AED"/>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Channel 2: Hospital ED → Laboratory</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HL7 v2 ORM^O01  |  LOINC terminology mapping</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11155680" y="91440"/>
            <a:ext cx="685800" cy="320040"/>
          </a:xfrm>
          <a:prstGeom prst="rect">
            <a:avLst/>
          </a:prstGeom>
          <a:solidFill>
            <a:srgbClr val="7C3AED"/>
          </a:solidFill>
          <a:ln w="12700">
            <a:solidFill>
              <a:srgbClr val="7C3AED"/>
            </a:solidFill>
            <a:prstDash val="solid"/>
          </a:ln>
        </p:spPr>
      </p:sp>
      <p:sp>
        <p:nvSpPr>
          <p:cNvPr id="9" name="Text 7"/>
          <p:cNvSpPr/>
          <p:nvPr/>
        </p:nvSpPr>
        <p:spPr>
          <a:xfrm>
            <a:off x="11155680" y="91440"/>
            <a:ext cx="6858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 2</a:t>
            </a:r>
            <a:endParaRPr lang="en-US" sz="1000" dirty="0"/>
          </a:p>
        </p:txBody>
      </p:sp>
      <p:sp>
        <p:nvSpPr>
          <p:cNvPr id="10" name="Shape 8"/>
          <p:cNvSpPr/>
          <p:nvPr/>
        </p:nvSpPr>
        <p:spPr>
          <a:xfrm>
            <a:off x="365760" y="1097280"/>
            <a:ext cx="5029200" cy="2331720"/>
          </a:xfrm>
          <a:prstGeom prst="rect">
            <a:avLst/>
          </a:prstGeom>
          <a:solidFill>
            <a:srgbClr val="EFF6FF"/>
          </a:solidFill>
          <a:ln w="6350">
            <a:solidFill>
              <a:srgbClr val="BFDBFE"/>
            </a:solidFill>
            <a:prstDash val="solid"/>
          </a:ln>
          <a:effectLst>
            <a:outerShdw sx="100000" sy="100000" kx="0" ky="0" algn="bl" rotWithShape="0" blurRad="76200" dist="25400" dir="8100000">
              <a:srgbClr val="000000">
                <a:alpha val="8000"/>
              </a:srgbClr>
            </a:outerShdw>
          </a:effectLst>
        </p:spPr>
      </p:sp>
      <p:sp>
        <p:nvSpPr>
          <p:cNvPr id="11" name="Text 9"/>
          <p:cNvSpPr/>
          <p:nvPr/>
        </p:nvSpPr>
        <p:spPr>
          <a:xfrm>
            <a:off x="502920" y="1188720"/>
            <a:ext cx="1371600" cy="201168"/>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SOURCE</a:t>
            </a:r>
            <a:endParaRPr lang="en-US" sz="700" dirty="0"/>
          </a:p>
        </p:txBody>
      </p:sp>
      <p:sp>
        <p:nvSpPr>
          <p:cNvPr id="12" name="Text 10"/>
          <p:cNvSpPr/>
          <p:nvPr/>
        </p:nvSpPr>
        <p:spPr>
          <a:xfrm>
            <a:off x="502920" y="1371600"/>
            <a:ext cx="475488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Hospital ED — Internal admission record (JSON)</a:t>
            </a:r>
            <a:endParaRPr lang="en-US" sz="1000" dirty="0"/>
          </a:p>
        </p:txBody>
      </p:sp>
      <p:sp>
        <p:nvSpPr>
          <p:cNvPr id="13" name="Text 11"/>
          <p:cNvSpPr/>
          <p:nvPr/>
        </p:nvSpPr>
        <p:spPr>
          <a:xfrm>
            <a:off x="457200" y="1664208"/>
            <a:ext cx="4892040" cy="1664208"/>
          </a:xfrm>
          <a:prstGeom prst="rect">
            <a:avLst/>
          </a:prstGeom>
          <a:noFill/>
          <a:ln/>
        </p:spPr>
        <p:txBody>
          <a:bodyPr wrap="square" lIns="0" tIns="0" rIns="0" bIns="0" rtlCol="0" anchor="t"/>
          <a:lstStyle/>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patient_name:        Fadi Halaweh</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icd10_code:          I21.9</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diagnosis:           Acute myocardial infarction</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attending_physician: Dr. Khalid Mansour</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tests_ordered:       Troponin I, CBC, Lipid Panel, BMP</a:t>
            </a:r>
            <a:endParaRPr lang="en-US" sz="800" dirty="0"/>
          </a:p>
        </p:txBody>
      </p:sp>
      <p:sp>
        <p:nvSpPr>
          <p:cNvPr id="14" name="Shape 12"/>
          <p:cNvSpPr/>
          <p:nvPr/>
        </p:nvSpPr>
        <p:spPr>
          <a:xfrm>
            <a:off x="5577840" y="2148840"/>
            <a:ext cx="822960" cy="27432"/>
          </a:xfrm>
          <a:prstGeom prst="rect">
            <a:avLst/>
          </a:prstGeom>
          <a:solidFill>
            <a:srgbClr val="7C3AED"/>
          </a:solidFill>
          <a:ln w="12700">
            <a:solidFill>
              <a:srgbClr val="7C3AED"/>
            </a:solidFill>
            <a:prstDash val="solid"/>
          </a:ln>
        </p:spPr>
      </p:sp>
      <p:sp>
        <p:nvSpPr>
          <p:cNvPr id="15" name="Text 13"/>
          <p:cNvSpPr/>
          <p:nvPr/>
        </p:nvSpPr>
        <p:spPr>
          <a:xfrm>
            <a:off x="5486400" y="1965960"/>
            <a:ext cx="1005840" cy="384048"/>
          </a:xfrm>
          <a:prstGeom prst="rect">
            <a:avLst/>
          </a:prstGeom>
          <a:noFill/>
          <a:ln/>
        </p:spPr>
        <p:txBody>
          <a:bodyPr wrap="square" lIns="0" tIns="0" rIns="0" bIns="0" rtlCol="0" anchor="ctr"/>
          <a:lstStyle/>
          <a:p>
            <a:pPr algn="ctr" indent="0" marL="0">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583680" y="1097280"/>
            <a:ext cx="5212080" cy="2331720"/>
          </a:xfrm>
          <a:prstGeom prst="rect">
            <a:avLst/>
          </a:prstGeom>
          <a:solidFill>
            <a:srgbClr val="F0FDF4"/>
          </a:solidFill>
          <a:ln w="6350">
            <a:solidFill>
              <a:srgbClr val="BBF7D0"/>
            </a:solidFill>
            <a:prstDash val="solid"/>
          </a:ln>
          <a:effectLst>
            <a:outerShdw sx="100000" sy="100000" kx="0" ky="0" algn="bl" rotWithShape="0" blurRad="76200" dist="25400" dir="8100000">
              <a:srgbClr val="000000">
                <a:alpha val="8000"/>
              </a:srgbClr>
            </a:outerShdw>
          </a:effectLst>
        </p:spPr>
      </p:sp>
      <p:sp>
        <p:nvSpPr>
          <p:cNvPr id="17" name="Text 15"/>
          <p:cNvSpPr/>
          <p:nvPr/>
        </p:nvSpPr>
        <p:spPr>
          <a:xfrm>
            <a:off x="6720840" y="1188720"/>
            <a:ext cx="182880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DESTINATION</a:t>
            </a:r>
            <a:endParaRPr lang="en-US" sz="700" dirty="0"/>
          </a:p>
        </p:txBody>
      </p:sp>
      <p:sp>
        <p:nvSpPr>
          <p:cNvPr id="18" name="Text 16"/>
          <p:cNvSpPr/>
          <p:nvPr/>
        </p:nvSpPr>
        <p:spPr>
          <a:xfrm>
            <a:off x="6720840" y="1371600"/>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Laboratory — HL7 v2 ORM^O01 order message</a:t>
            </a:r>
            <a:endParaRPr lang="en-US" sz="1000" dirty="0"/>
          </a:p>
        </p:txBody>
      </p:sp>
      <p:sp>
        <p:nvSpPr>
          <p:cNvPr id="19" name="Text 17"/>
          <p:cNvSpPr/>
          <p:nvPr/>
        </p:nvSpPr>
        <p:spPr>
          <a:xfrm>
            <a:off x="6583680" y="1664208"/>
            <a:ext cx="5074920" cy="1664208"/>
          </a:xfrm>
          <a:prstGeom prst="rect">
            <a:avLst/>
          </a:prstGeom>
          <a:noFill/>
          <a:ln/>
        </p:spPr>
        <p:txBody>
          <a:bodyPr wrap="square" lIns="0" tIns="0" rIns="0" bIns="0" rtlCol="0" anchor="t"/>
          <a:lstStyle/>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MSH|^~\&amp;|HOSPITAL_ED|CITY_HOSP|LABORATORY|LAB_SYS|...|ORM^O01</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PID|1||000001|||Fadi^Halaweh||19850312|M</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PV1|1|E|ED^01^A|||Dr. Khalid Mansour</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OBR|1||0001A|10839-9^Troponin I^LN|||...|||STAT</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OBR|2||0001B|58410-2^CBC panel^LN|||...|||STAT</a:t>
            </a:r>
            <a:endParaRPr lang="en-US" sz="750" dirty="0"/>
          </a:p>
        </p:txBody>
      </p:sp>
      <p:sp>
        <p:nvSpPr>
          <p:cNvPr id="20" name="Shape 18"/>
          <p:cNvSpPr/>
          <p:nvPr/>
        </p:nvSpPr>
        <p:spPr>
          <a:xfrm>
            <a:off x="365760" y="3602736"/>
            <a:ext cx="3773424" cy="1938528"/>
          </a:xfrm>
          <a:prstGeom prst="rect">
            <a:avLst/>
          </a:prstGeom>
          <a:solidFill>
            <a:srgbClr val="DBEAFE"/>
          </a:solidFill>
          <a:ln w="6350">
            <a:solidFill>
              <a:srgbClr val="1E40AF"/>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365760" y="3602736"/>
            <a:ext cx="45720" cy="1938528"/>
          </a:xfrm>
          <a:prstGeom prst="rect">
            <a:avLst/>
          </a:prstGeom>
          <a:solidFill>
            <a:srgbClr val="1E40AF"/>
          </a:solidFill>
          <a:ln w="12700">
            <a:solidFill>
              <a:srgbClr val="1E40AF"/>
            </a:solidFill>
            <a:prstDash val="solid"/>
          </a:ln>
        </p:spPr>
      </p:sp>
      <p:sp>
        <p:nvSpPr>
          <p:cNvPr id="22" name="Text 20"/>
          <p:cNvSpPr/>
          <p:nvPr/>
        </p:nvSpPr>
        <p:spPr>
          <a:xfrm>
            <a:off x="493776" y="3694176"/>
            <a:ext cx="3535680" cy="237744"/>
          </a:xfrm>
          <a:prstGeom prst="rect">
            <a:avLst/>
          </a:prstGeom>
          <a:noFill/>
          <a:ln/>
        </p:spPr>
        <p:txBody>
          <a:bodyPr wrap="square" lIns="0" tIns="0" rIns="0" bIns="0" rtlCol="0" anchor="ctr"/>
          <a:lstStyle/>
          <a:p>
            <a:pPr indent="0" marL="0">
              <a:buNone/>
            </a:pPr>
            <a:r>
              <a:rPr lang="en-US" sz="800" b="1" spc="200" kern="0" dirty="0">
                <a:solidFill>
                  <a:srgbClr val="1E40AF"/>
                </a:solidFill>
                <a:latin typeface="Calibri" pitchFamily="34" charset="0"/>
                <a:ea typeface="Calibri" pitchFamily="34" charset="-122"/>
                <a:cs typeface="Calibri" pitchFamily="34" charset="-120"/>
              </a:rPr>
              <a:t>STRUCTURAL</a:t>
            </a:r>
            <a:endParaRPr lang="en-US" sz="800" dirty="0"/>
          </a:p>
        </p:txBody>
      </p:sp>
      <p:sp>
        <p:nvSpPr>
          <p:cNvPr id="23" name="Text 21"/>
          <p:cNvSpPr/>
          <p:nvPr/>
        </p:nvSpPr>
        <p:spPr>
          <a:xfrm>
            <a:off x="493776"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ED admission dict with ordered tests → HL7 v2 ORM^O01; each test becomes an OBR segment</a:t>
            </a:r>
            <a:endParaRPr lang="en-US" sz="950" dirty="0"/>
          </a:p>
        </p:txBody>
      </p:sp>
      <p:sp>
        <p:nvSpPr>
          <p:cNvPr id="24" name="Shape 22"/>
          <p:cNvSpPr/>
          <p:nvPr/>
        </p:nvSpPr>
        <p:spPr>
          <a:xfrm>
            <a:off x="4212336" y="3602736"/>
            <a:ext cx="3773424" cy="1938528"/>
          </a:xfrm>
          <a:prstGeom prst="rect">
            <a:avLst/>
          </a:prstGeom>
          <a:solidFill>
            <a:srgbClr val="D1FAE5"/>
          </a:solidFill>
          <a:ln w="6350">
            <a:solidFill>
              <a:srgbClr val="0D9488"/>
            </a:solidFill>
            <a:prstDash val="solid"/>
          </a:ln>
          <a:effectLst>
            <a:outerShdw sx="100000" sy="100000" kx="0" ky="0" algn="bl" rotWithShape="0" blurRad="76200" dist="25400" dir="8100000">
              <a:srgbClr val="000000">
                <a:alpha val="8000"/>
              </a:srgbClr>
            </a:outerShdw>
          </a:effectLst>
        </p:spPr>
      </p:sp>
      <p:sp>
        <p:nvSpPr>
          <p:cNvPr id="25" name="Shape 23"/>
          <p:cNvSpPr/>
          <p:nvPr/>
        </p:nvSpPr>
        <p:spPr>
          <a:xfrm>
            <a:off x="4212336" y="3602736"/>
            <a:ext cx="45720" cy="1938528"/>
          </a:xfrm>
          <a:prstGeom prst="rect">
            <a:avLst/>
          </a:prstGeom>
          <a:solidFill>
            <a:srgbClr val="0D9488"/>
          </a:solidFill>
          <a:ln w="12700">
            <a:solidFill>
              <a:srgbClr val="0D9488"/>
            </a:solidFill>
            <a:prstDash val="solid"/>
          </a:ln>
        </p:spPr>
      </p:sp>
      <p:sp>
        <p:nvSpPr>
          <p:cNvPr id="26" name="Text 24"/>
          <p:cNvSpPr/>
          <p:nvPr/>
        </p:nvSpPr>
        <p:spPr>
          <a:xfrm>
            <a:off x="4340352" y="3694176"/>
            <a:ext cx="3535680" cy="237744"/>
          </a:xfrm>
          <a:prstGeom prst="rect">
            <a:avLst/>
          </a:prstGeom>
          <a:noFill/>
          <a:ln/>
        </p:spPr>
        <p:txBody>
          <a:bodyPr wrap="square" lIns="0" tIns="0" rIns="0" bIns="0"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SYNTACTIC</a:t>
            </a:r>
            <a:endParaRPr lang="en-US" sz="800" dirty="0"/>
          </a:p>
        </p:txBody>
      </p:sp>
      <p:sp>
        <p:nvSpPr>
          <p:cNvPr id="27" name="Text 25"/>
          <p:cNvSpPr/>
          <p:nvPr/>
        </p:nvSpPr>
        <p:spPr>
          <a:xfrm>
            <a:off x="4340352"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HL7 v2.5 pipe-delimited; OBR-4 holds LOINC code^name^LN; priority STAT in OBR-27</a:t>
            </a:r>
            <a:endParaRPr lang="en-US" sz="950" dirty="0"/>
          </a:p>
        </p:txBody>
      </p:sp>
      <p:sp>
        <p:nvSpPr>
          <p:cNvPr id="28" name="Shape 26"/>
          <p:cNvSpPr/>
          <p:nvPr/>
        </p:nvSpPr>
        <p:spPr>
          <a:xfrm>
            <a:off x="8058912" y="3602736"/>
            <a:ext cx="3773424" cy="1938528"/>
          </a:xfrm>
          <a:prstGeom prst="rect">
            <a:avLst/>
          </a:prstGeom>
          <a:solidFill>
            <a:srgbClr val="FEF3C7"/>
          </a:solidFill>
          <a:ln w="6350">
            <a:solidFill>
              <a:srgbClr val="D97706"/>
            </a:solidFill>
            <a:prstDash val="solid"/>
          </a:ln>
          <a:effectLst>
            <a:outerShdw sx="100000" sy="100000" kx="0" ky="0" algn="bl" rotWithShape="0" blurRad="76200" dist="25400" dir="8100000">
              <a:srgbClr val="000000">
                <a:alpha val="8000"/>
              </a:srgbClr>
            </a:outerShdw>
          </a:effectLst>
        </p:spPr>
      </p:sp>
      <p:sp>
        <p:nvSpPr>
          <p:cNvPr id="29" name="Shape 27"/>
          <p:cNvSpPr/>
          <p:nvPr/>
        </p:nvSpPr>
        <p:spPr>
          <a:xfrm>
            <a:off x="8058912" y="3602736"/>
            <a:ext cx="45720" cy="1938528"/>
          </a:xfrm>
          <a:prstGeom prst="rect">
            <a:avLst/>
          </a:prstGeom>
          <a:solidFill>
            <a:srgbClr val="D97706"/>
          </a:solidFill>
          <a:ln w="12700">
            <a:solidFill>
              <a:srgbClr val="D97706"/>
            </a:solidFill>
            <a:prstDash val="solid"/>
          </a:ln>
        </p:spPr>
      </p:sp>
      <p:sp>
        <p:nvSpPr>
          <p:cNvPr id="30" name="Text 28"/>
          <p:cNvSpPr/>
          <p:nvPr/>
        </p:nvSpPr>
        <p:spPr>
          <a:xfrm>
            <a:off x="8186928" y="3694176"/>
            <a:ext cx="3535680" cy="237744"/>
          </a:xfrm>
          <a:prstGeom prst="rect">
            <a:avLst/>
          </a:prstGeom>
          <a:noFill/>
          <a:ln/>
        </p:spPr>
        <p:txBody>
          <a:bodyPr wrap="square" lIns="0" tIns="0" rIns="0" bIns="0" rtlCol="0" anchor="ctr"/>
          <a:lstStyle/>
          <a:p>
            <a:pPr indent="0" marL="0">
              <a:buNone/>
            </a:pPr>
            <a:r>
              <a:rPr lang="en-US" sz="800" b="1" spc="200" kern="0" dirty="0">
                <a:solidFill>
                  <a:srgbClr val="D97706"/>
                </a:solidFill>
                <a:latin typeface="Calibri" pitchFamily="34" charset="0"/>
                <a:ea typeface="Calibri" pitchFamily="34" charset="-122"/>
                <a:cs typeface="Calibri" pitchFamily="34" charset="-120"/>
              </a:rPr>
              <a:t>SEMANTIC</a:t>
            </a:r>
            <a:endParaRPr lang="en-US" sz="800" dirty="0"/>
          </a:p>
        </p:txBody>
      </p:sp>
      <p:sp>
        <p:nvSpPr>
          <p:cNvPr id="31" name="Text 29"/>
          <p:cNvSpPr/>
          <p:nvPr/>
        </p:nvSpPr>
        <p:spPr>
          <a:xfrm>
            <a:off x="8186928"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ED test name 'Troponin I' → LOINC '10839-9'; 'CBC' → LOINC '58410-2'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D9488"/>
          </a:solidFill>
          <a:ln w="12700">
            <a:solidFill>
              <a:srgbClr val="0D9488"/>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Channel 3: Laboratory → Hospital ED</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HL7 v2 ORU^R01  |  SNOMED CT terminology mapping</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11155680" y="91440"/>
            <a:ext cx="685800" cy="320040"/>
          </a:xfrm>
          <a:prstGeom prst="rect">
            <a:avLst/>
          </a:prstGeom>
          <a:solidFill>
            <a:srgbClr val="0D9488"/>
          </a:solidFill>
          <a:ln w="12700">
            <a:solidFill>
              <a:srgbClr val="0D9488"/>
            </a:solidFill>
            <a:prstDash val="solid"/>
          </a:ln>
        </p:spPr>
      </p:sp>
      <p:sp>
        <p:nvSpPr>
          <p:cNvPr id="9" name="Text 7"/>
          <p:cNvSpPr/>
          <p:nvPr/>
        </p:nvSpPr>
        <p:spPr>
          <a:xfrm>
            <a:off x="11155680" y="91440"/>
            <a:ext cx="6858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 3</a:t>
            </a:r>
            <a:endParaRPr lang="en-US" sz="1000" dirty="0"/>
          </a:p>
        </p:txBody>
      </p:sp>
      <p:sp>
        <p:nvSpPr>
          <p:cNvPr id="10" name="Shape 8"/>
          <p:cNvSpPr/>
          <p:nvPr/>
        </p:nvSpPr>
        <p:spPr>
          <a:xfrm>
            <a:off x="365760" y="1097280"/>
            <a:ext cx="5029200" cy="2331720"/>
          </a:xfrm>
          <a:prstGeom prst="rect">
            <a:avLst/>
          </a:prstGeom>
          <a:solidFill>
            <a:srgbClr val="EFF6FF"/>
          </a:solidFill>
          <a:ln w="6350">
            <a:solidFill>
              <a:srgbClr val="BFDBFE"/>
            </a:solidFill>
            <a:prstDash val="solid"/>
          </a:ln>
          <a:effectLst>
            <a:outerShdw sx="100000" sy="100000" kx="0" ky="0" algn="bl" rotWithShape="0" blurRad="76200" dist="25400" dir="8100000">
              <a:srgbClr val="000000">
                <a:alpha val="8000"/>
              </a:srgbClr>
            </a:outerShdw>
          </a:effectLst>
        </p:spPr>
      </p:sp>
      <p:sp>
        <p:nvSpPr>
          <p:cNvPr id="11" name="Text 9"/>
          <p:cNvSpPr/>
          <p:nvPr/>
        </p:nvSpPr>
        <p:spPr>
          <a:xfrm>
            <a:off x="502920" y="1188720"/>
            <a:ext cx="1371600" cy="201168"/>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SOURCE</a:t>
            </a:r>
            <a:endParaRPr lang="en-US" sz="700" dirty="0"/>
          </a:p>
        </p:txBody>
      </p:sp>
      <p:sp>
        <p:nvSpPr>
          <p:cNvPr id="12" name="Text 10"/>
          <p:cNvSpPr/>
          <p:nvPr/>
        </p:nvSpPr>
        <p:spPr>
          <a:xfrm>
            <a:off x="502920" y="1371600"/>
            <a:ext cx="475488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Laboratory — SQLite result record</a:t>
            </a:r>
            <a:endParaRPr lang="en-US" sz="1000" dirty="0"/>
          </a:p>
        </p:txBody>
      </p:sp>
      <p:sp>
        <p:nvSpPr>
          <p:cNvPr id="13" name="Text 11"/>
          <p:cNvSpPr/>
          <p:nvPr/>
        </p:nvSpPr>
        <p:spPr>
          <a:xfrm>
            <a:off x="457200" y="1664208"/>
            <a:ext cx="4892040" cy="1664208"/>
          </a:xfrm>
          <a:prstGeom prst="rect">
            <a:avLst/>
          </a:prstGeom>
          <a:noFill/>
          <a:ln/>
        </p:spPr>
        <p:txBody>
          <a:bodyPr wrap="square" lIns="0" tIns="0" rIns="0" bIns="0" rtlCol="0" anchor="t"/>
          <a:lstStyle/>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patient_name:    Fadi Halaweh</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loinc_code:      10839-9</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test_name:       Troponin I</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result_value:    0.08  ng/mL</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reference_range: &lt;0.04</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status:          FINAL</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result_date:     2026-06-10</a:t>
            </a:r>
            <a:endParaRPr lang="en-US" sz="800" dirty="0"/>
          </a:p>
        </p:txBody>
      </p:sp>
      <p:sp>
        <p:nvSpPr>
          <p:cNvPr id="14" name="Shape 12"/>
          <p:cNvSpPr/>
          <p:nvPr/>
        </p:nvSpPr>
        <p:spPr>
          <a:xfrm>
            <a:off x="5577840" y="2148840"/>
            <a:ext cx="822960" cy="27432"/>
          </a:xfrm>
          <a:prstGeom prst="rect">
            <a:avLst/>
          </a:prstGeom>
          <a:solidFill>
            <a:srgbClr val="0D9488"/>
          </a:solidFill>
          <a:ln w="12700">
            <a:solidFill>
              <a:srgbClr val="0D9488"/>
            </a:solidFill>
            <a:prstDash val="solid"/>
          </a:ln>
        </p:spPr>
      </p:sp>
      <p:sp>
        <p:nvSpPr>
          <p:cNvPr id="15" name="Text 13"/>
          <p:cNvSpPr/>
          <p:nvPr/>
        </p:nvSpPr>
        <p:spPr>
          <a:xfrm>
            <a:off x="5486400" y="1965960"/>
            <a:ext cx="1005840" cy="384048"/>
          </a:xfrm>
          <a:prstGeom prst="rect">
            <a:avLst/>
          </a:prstGeom>
          <a:noFill/>
          <a:ln/>
        </p:spPr>
        <p:txBody>
          <a:bodyPr wrap="square" lIns="0" tIns="0" rIns="0" bIns="0" rtlCol="0" anchor="ctr"/>
          <a:lstStyle/>
          <a:p>
            <a:pPr algn="ctr" indent="0" marL="0">
              <a:buNone/>
            </a:pPr>
            <a:r>
              <a:rPr lang="en-US" sz="2000" b="1" dirty="0">
                <a:solidFill>
                  <a:srgbClr val="0D9488"/>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583680" y="1097280"/>
            <a:ext cx="5212080" cy="2331720"/>
          </a:xfrm>
          <a:prstGeom prst="rect">
            <a:avLst/>
          </a:prstGeom>
          <a:solidFill>
            <a:srgbClr val="F0FDF4"/>
          </a:solidFill>
          <a:ln w="6350">
            <a:solidFill>
              <a:srgbClr val="BBF7D0"/>
            </a:solidFill>
            <a:prstDash val="solid"/>
          </a:ln>
          <a:effectLst>
            <a:outerShdw sx="100000" sy="100000" kx="0" ky="0" algn="bl" rotWithShape="0" blurRad="76200" dist="25400" dir="8100000">
              <a:srgbClr val="000000">
                <a:alpha val="8000"/>
              </a:srgbClr>
            </a:outerShdw>
          </a:effectLst>
        </p:spPr>
      </p:sp>
      <p:sp>
        <p:nvSpPr>
          <p:cNvPr id="17" name="Text 15"/>
          <p:cNvSpPr/>
          <p:nvPr/>
        </p:nvSpPr>
        <p:spPr>
          <a:xfrm>
            <a:off x="6720840" y="1188720"/>
            <a:ext cx="182880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DESTINATION</a:t>
            </a:r>
            <a:endParaRPr lang="en-US" sz="700" dirty="0"/>
          </a:p>
        </p:txBody>
      </p:sp>
      <p:sp>
        <p:nvSpPr>
          <p:cNvPr id="18" name="Text 16"/>
          <p:cNvSpPr/>
          <p:nvPr/>
        </p:nvSpPr>
        <p:spPr>
          <a:xfrm>
            <a:off x="6720840" y="1371600"/>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Hospital ED — HL7 v2 ORU^R01 result message</a:t>
            </a:r>
            <a:endParaRPr lang="en-US" sz="1000" dirty="0"/>
          </a:p>
        </p:txBody>
      </p:sp>
      <p:sp>
        <p:nvSpPr>
          <p:cNvPr id="19" name="Text 17"/>
          <p:cNvSpPr/>
          <p:nvPr/>
        </p:nvSpPr>
        <p:spPr>
          <a:xfrm>
            <a:off x="6583680" y="1664208"/>
            <a:ext cx="5074920" cy="1664208"/>
          </a:xfrm>
          <a:prstGeom prst="rect">
            <a:avLst/>
          </a:prstGeom>
          <a:noFill/>
          <a:ln/>
        </p:spPr>
        <p:txBody>
          <a:bodyPr wrap="square" lIns="0" tIns="0" rIns="0" bIns="0" rtlCol="0" anchor="t"/>
          <a:lstStyle/>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MSH|^~\&amp;|LABORATORY|LAB_SYS|HOSPITAL_ED|...|ORU^R01</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PID|1||000001^^^LAB||Fadi^Halaweh</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OBR|1|0001|0001A|10839-9^Troponin I^LN|||...</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OBX|1|NM|10839-9^Troponin I^LN||0.08|ng/mL|&lt;0.04|H|||FINAL</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OBX|2|CWE|414916001^Elevated troponin^SCT</a:t>
            </a:r>
            <a:endParaRPr lang="en-US" sz="750" dirty="0"/>
          </a:p>
        </p:txBody>
      </p:sp>
      <p:sp>
        <p:nvSpPr>
          <p:cNvPr id="20" name="Shape 18"/>
          <p:cNvSpPr/>
          <p:nvPr/>
        </p:nvSpPr>
        <p:spPr>
          <a:xfrm>
            <a:off x="365760" y="3602736"/>
            <a:ext cx="3773424" cy="1938528"/>
          </a:xfrm>
          <a:prstGeom prst="rect">
            <a:avLst/>
          </a:prstGeom>
          <a:solidFill>
            <a:srgbClr val="DBEAFE"/>
          </a:solidFill>
          <a:ln w="6350">
            <a:solidFill>
              <a:srgbClr val="1E40AF"/>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365760" y="3602736"/>
            <a:ext cx="45720" cy="1938528"/>
          </a:xfrm>
          <a:prstGeom prst="rect">
            <a:avLst/>
          </a:prstGeom>
          <a:solidFill>
            <a:srgbClr val="1E40AF"/>
          </a:solidFill>
          <a:ln w="12700">
            <a:solidFill>
              <a:srgbClr val="1E40AF"/>
            </a:solidFill>
            <a:prstDash val="solid"/>
          </a:ln>
        </p:spPr>
      </p:sp>
      <p:sp>
        <p:nvSpPr>
          <p:cNvPr id="22" name="Text 20"/>
          <p:cNvSpPr/>
          <p:nvPr/>
        </p:nvSpPr>
        <p:spPr>
          <a:xfrm>
            <a:off x="493776" y="3694176"/>
            <a:ext cx="3535680" cy="237744"/>
          </a:xfrm>
          <a:prstGeom prst="rect">
            <a:avLst/>
          </a:prstGeom>
          <a:noFill/>
          <a:ln/>
        </p:spPr>
        <p:txBody>
          <a:bodyPr wrap="square" lIns="0" tIns="0" rIns="0" bIns="0" rtlCol="0" anchor="ctr"/>
          <a:lstStyle/>
          <a:p>
            <a:pPr indent="0" marL="0">
              <a:buNone/>
            </a:pPr>
            <a:r>
              <a:rPr lang="en-US" sz="800" b="1" spc="200" kern="0" dirty="0">
                <a:solidFill>
                  <a:srgbClr val="1E40AF"/>
                </a:solidFill>
                <a:latin typeface="Calibri" pitchFamily="34" charset="0"/>
                <a:ea typeface="Calibri" pitchFamily="34" charset="-122"/>
                <a:cs typeface="Calibri" pitchFamily="34" charset="-120"/>
              </a:rPr>
              <a:t>STRUCTURAL</a:t>
            </a:r>
            <a:endParaRPr lang="en-US" sz="800" dirty="0"/>
          </a:p>
        </p:txBody>
      </p:sp>
      <p:sp>
        <p:nvSpPr>
          <p:cNvPr id="23" name="Text 21"/>
          <p:cNvSpPr/>
          <p:nvPr/>
        </p:nvSpPr>
        <p:spPr>
          <a:xfrm>
            <a:off x="493776"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Lab SQLite result → HL7 v2 ORU^R01; numeric result in OBX-5; SNOMED finding in second OBX</a:t>
            </a:r>
            <a:endParaRPr lang="en-US" sz="950" dirty="0"/>
          </a:p>
        </p:txBody>
      </p:sp>
      <p:sp>
        <p:nvSpPr>
          <p:cNvPr id="24" name="Shape 22"/>
          <p:cNvSpPr/>
          <p:nvPr/>
        </p:nvSpPr>
        <p:spPr>
          <a:xfrm>
            <a:off x="4212336" y="3602736"/>
            <a:ext cx="3773424" cy="1938528"/>
          </a:xfrm>
          <a:prstGeom prst="rect">
            <a:avLst/>
          </a:prstGeom>
          <a:solidFill>
            <a:srgbClr val="D1FAE5"/>
          </a:solidFill>
          <a:ln w="6350">
            <a:solidFill>
              <a:srgbClr val="0D9488"/>
            </a:solidFill>
            <a:prstDash val="solid"/>
          </a:ln>
          <a:effectLst>
            <a:outerShdw sx="100000" sy="100000" kx="0" ky="0" algn="bl" rotWithShape="0" blurRad="76200" dist="25400" dir="8100000">
              <a:srgbClr val="000000">
                <a:alpha val="8000"/>
              </a:srgbClr>
            </a:outerShdw>
          </a:effectLst>
        </p:spPr>
      </p:sp>
      <p:sp>
        <p:nvSpPr>
          <p:cNvPr id="25" name="Shape 23"/>
          <p:cNvSpPr/>
          <p:nvPr/>
        </p:nvSpPr>
        <p:spPr>
          <a:xfrm>
            <a:off x="4212336" y="3602736"/>
            <a:ext cx="45720" cy="1938528"/>
          </a:xfrm>
          <a:prstGeom prst="rect">
            <a:avLst/>
          </a:prstGeom>
          <a:solidFill>
            <a:srgbClr val="0D9488"/>
          </a:solidFill>
          <a:ln w="12700">
            <a:solidFill>
              <a:srgbClr val="0D9488"/>
            </a:solidFill>
            <a:prstDash val="solid"/>
          </a:ln>
        </p:spPr>
      </p:sp>
      <p:sp>
        <p:nvSpPr>
          <p:cNvPr id="26" name="Text 24"/>
          <p:cNvSpPr/>
          <p:nvPr/>
        </p:nvSpPr>
        <p:spPr>
          <a:xfrm>
            <a:off x="4340352" y="3694176"/>
            <a:ext cx="3535680" cy="237744"/>
          </a:xfrm>
          <a:prstGeom prst="rect">
            <a:avLst/>
          </a:prstGeom>
          <a:noFill/>
          <a:ln/>
        </p:spPr>
        <p:txBody>
          <a:bodyPr wrap="square" lIns="0" tIns="0" rIns="0" bIns="0"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SYNTACTIC</a:t>
            </a:r>
            <a:endParaRPr lang="en-US" sz="800" dirty="0"/>
          </a:p>
        </p:txBody>
      </p:sp>
      <p:sp>
        <p:nvSpPr>
          <p:cNvPr id="27" name="Text 25"/>
          <p:cNvSpPr/>
          <p:nvPr/>
        </p:nvSpPr>
        <p:spPr>
          <a:xfrm>
            <a:off x="4340352"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HL7 v2.5 OBX segments: OBX-6 units, OBX-7 reference range, OBX-8 abnormal flag (H/L/N)</a:t>
            </a:r>
            <a:endParaRPr lang="en-US" sz="950" dirty="0"/>
          </a:p>
        </p:txBody>
      </p:sp>
      <p:sp>
        <p:nvSpPr>
          <p:cNvPr id="28" name="Shape 26"/>
          <p:cNvSpPr/>
          <p:nvPr/>
        </p:nvSpPr>
        <p:spPr>
          <a:xfrm>
            <a:off x="8058912" y="3602736"/>
            <a:ext cx="3773424" cy="1938528"/>
          </a:xfrm>
          <a:prstGeom prst="rect">
            <a:avLst/>
          </a:prstGeom>
          <a:solidFill>
            <a:srgbClr val="FEF3C7"/>
          </a:solidFill>
          <a:ln w="6350">
            <a:solidFill>
              <a:srgbClr val="D97706"/>
            </a:solidFill>
            <a:prstDash val="solid"/>
          </a:ln>
          <a:effectLst>
            <a:outerShdw sx="100000" sy="100000" kx="0" ky="0" algn="bl" rotWithShape="0" blurRad="76200" dist="25400" dir="8100000">
              <a:srgbClr val="000000">
                <a:alpha val="8000"/>
              </a:srgbClr>
            </a:outerShdw>
          </a:effectLst>
        </p:spPr>
      </p:sp>
      <p:sp>
        <p:nvSpPr>
          <p:cNvPr id="29" name="Shape 27"/>
          <p:cNvSpPr/>
          <p:nvPr/>
        </p:nvSpPr>
        <p:spPr>
          <a:xfrm>
            <a:off x="8058912" y="3602736"/>
            <a:ext cx="45720" cy="1938528"/>
          </a:xfrm>
          <a:prstGeom prst="rect">
            <a:avLst/>
          </a:prstGeom>
          <a:solidFill>
            <a:srgbClr val="D97706"/>
          </a:solidFill>
          <a:ln w="12700">
            <a:solidFill>
              <a:srgbClr val="D97706"/>
            </a:solidFill>
            <a:prstDash val="solid"/>
          </a:ln>
        </p:spPr>
      </p:sp>
      <p:sp>
        <p:nvSpPr>
          <p:cNvPr id="30" name="Text 28"/>
          <p:cNvSpPr/>
          <p:nvPr/>
        </p:nvSpPr>
        <p:spPr>
          <a:xfrm>
            <a:off x="8186928" y="3694176"/>
            <a:ext cx="3535680" cy="237744"/>
          </a:xfrm>
          <a:prstGeom prst="rect">
            <a:avLst/>
          </a:prstGeom>
          <a:noFill/>
          <a:ln/>
        </p:spPr>
        <p:txBody>
          <a:bodyPr wrap="square" lIns="0" tIns="0" rIns="0" bIns="0" rtlCol="0" anchor="ctr"/>
          <a:lstStyle/>
          <a:p>
            <a:pPr indent="0" marL="0">
              <a:buNone/>
            </a:pPr>
            <a:r>
              <a:rPr lang="en-US" sz="800" b="1" spc="200" kern="0" dirty="0">
                <a:solidFill>
                  <a:srgbClr val="D97706"/>
                </a:solidFill>
                <a:latin typeface="Calibri" pitchFamily="34" charset="0"/>
                <a:ea typeface="Calibri" pitchFamily="34" charset="-122"/>
                <a:cs typeface="Calibri" pitchFamily="34" charset="-120"/>
              </a:rPr>
              <a:t>SEMANTIC</a:t>
            </a:r>
            <a:endParaRPr lang="en-US" sz="800" dirty="0"/>
          </a:p>
        </p:txBody>
      </p:sp>
      <p:sp>
        <p:nvSpPr>
          <p:cNvPr id="31" name="Text 29"/>
          <p:cNvSpPr/>
          <p:nvPr/>
        </p:nvSpPr>
        <p:spPr>
          <a:xfrm>
            <a:off x="8186928"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LOINC '10839-9' (Troponin I) + abnormal value → SNOMED CT '414916001' (Elevated troponin finding)</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EA580C"/>
          </a:solidFill>
          <a:ln w="12700">
            <a:solidFill>
              <a:srgbClr val="EA580C"/>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Channel 4: Hospital ED → Radiology</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DICOM Metadata  |  SNOMED CT procedure coding</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11155680" y="91440"/>
            <a:ext cx="685800" cy="320040"/>
          </a:xfrm>
          <a:prstGeom prst="rect">
            <a:avLst/>
          </a:prstGeom>
          <a:solidFill>
            <a:srgbClr val="EA580C"/>
          </a:solidFill>
          <a:ln w="12700">
            <a:solidFill>
              <a:srgbClr val="EA580C"/>
            </a:solidFill>
            <a:prstDash val="solid"/>
          </a:ln>
        </p:spPr>
      </p:sp>
      <p:sp>
        <p:nvSpPr>
          <p:cNvPr id="9" name="Text 7"/>
          <p:cNvSpPr/>
          <p:nvPr/>
        </p:nvSpPr>
        <p:spPr>
          <a:xfrm>
            <a:off x="11155680" y="91440"/>
            <a:ext cx="6858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 4</a:t>
            </a:r>
            <a:endParaRPr lang="en-US" sz="1000" dirty="0"/>
          </a:p>
        </p:txBody>
      </p:sp>
      <p:sp>
        <p:nvSpPr>
          <p:cNvPr id="10" name="Shape 8"/>
          <p:cNvSpPr/>
          <p:nvPr/>
        </p:nvSpPr>
        <p:spPr>
          <a:xfrm>
            <a:off x="365760" y="1097280"/>
            <a:ext cx="5029200" cy="2331720"/>
          </a:xfrm>
          <a:prstGeom prst="rect">
            <a:avLst/>
          </a:prstGeom>
          <a:solidFill>
            <a:srgbClr val="EFF6FF"/>
          </a:solidFill>
          <a:ln w="6350">
            <a:solidFill>
              <a:srgbClr val="BFDBFE"/>
            </a:solidFill>
            <a:prstDash val="solid"/>
          </a:ln>
          <a:effectLst>
            <a:outerShdw sx="100000" sy="100000" kx="0" ky="0" algn="bl" rotWithShape="0" blurRad="76200" dist="25400" dir="8100000">
              <a:srgbClr val="000000">
                <a:alpha val="8000"/>
              </a:srgbClr>
            </a:outerShdw>
          </a:effectLst>
        </p:spPr>
      </p:sp>
      <p:sp>
        <p:nvSpPr>
          <p:cNvPr id="11" name="Text 9"/>
          <p:cNvSpPr/>
          <p:nvPr/>
        </p:nvSpPr>
        <p:spPr>
          <a:xfrm>
            <a:off x="502920" y="1188720"/>
            <a:ext cx="1371600" cy="201168"/>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SOURCE</a:t>
            </a:r>
            <a:endParaRPr lang="en-US" sz="700" dirty="0"/>
          </a:p>
        </p:txBody>
      </p:sp>
      <p:sp>
        <p:nvSpPr>
          <p:cNvPr id="12" name="Text 10"/>
          <p:cNvSpPr/>
          <p:nvPr/>
        </p:nvSpPr>
        <p:spPr>
          <a:xfrm>
            <a:off x="502920" y="1371600"/>
            <a:ext cx="475488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Hospital ED — Admission record (JSON)</a:t>
            </a:r>
            <a:endParaRPr lang="en-US" sz="1000" dirty="0"/>
          </a:p>
        </p:txBody>
      </p:sp>
      <p:sp>
        <p:nvSpPr>
          <p:cNvPr id="13" name="Text 11"/>
          <p:cNvSpPr/>
          <p:nvPr/>
        </p:nvSpPr>
        <p:spPr>
          <a:xfrm>
            <a:off x="457200" y="1664208"/>
            <a:ext cx="4892040" cy="1664208"/>
          </a:xfrm>
          <a:prstGeom prst="rect">
            <a:avLst/>
          </a:prstGeom>
          <a:noFill/>
          <a:ln/>
        </p:spPr>
        <p:txBody>
          <a:bodyPr wrap="square" lIns="0" tIns="0" rIns="0" bIns="0" rtlCol="0" anchor="t"/>
          <a:lstStyle/>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patient_name:        Fadi Halaweh</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dob:                 1985-03-12</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icd10_code:          I21.9</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diagnosis:           Acute myocardial infarction</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attending_physician: Dr. Khalid Mansour</a:t>
            </a:r>
            <a:endParaRPr lang="en-US" sz="800" dirty="0"/>
          </a:p>
        </p:txBody>
      </p:sp>
      <p:sp>
        <p:nvSpPr>
          <p:cNvPr id="14" name="Shape 12"/>
          <p:cNvSpPr/>
          <p:nvPr/>
        </p:nvSpPr>
        <p:spPr>
          <a:xfrm>
            <a:off x="5577840" y="2148840"/>
            <a:ext cx="822960" cy="27432"/>
          </a:xfrm>
          <a:prstGeom prst="rect">
            <a:avLst/>
          </a:prstGeom>
          <a:solidFill>
            <a:srgbClr val="EA580C"/>
          </a:solidFill>
          <a:ln w="12700">
            <a:solidFill>
              <a:srgbClr val="EA580C"/>
            </a:solidFill>
            <a:prstDash val="solid"/>
          </a:ln>
        </p:spPr>
      </p:sp>
      <p:sp>
        <p:nvSpPr>
          <p:cNvPr id="15" name="Text 13"/>
          <p:cNvSpPr/>
          <p:nvPr/>
        </p:nvSpPr>
        <p:spPr>
          <a:xfrm>
            <a:off x="5486400" y="1965960"/>
            <a:ext cx="1005840" cy="384048"/>
          </a:xfrm>
          <a:prstGeom prst="rect">
            <a:avLst/>
          </a:prstGeom>
          <a:noFill/>
          <a:ln/>
        </p:spPr>
        <p:txBody>
          <a:bodyPr wrap="square" lIns="0" tIns="0" rIns="0" bIns="0" rtlCol="0" anchor="ctr"/>
          <a:lstStyle/>
          <a:p>
            <a:pPr algn="ctr" indent="0" marL="0">
              <a:buNone/>
            </a:pPr>
            <a:r>
              <a:rPr lang="en-US" sz="2000" b="1" dirty="0">
                <a:solidFill>
                  <a:srgbClr val="EA580C"/>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583680" y="1097280"/>
            <a:ext cx="5212080" cy="2331720"/>
          </a:xfrm>
          <a:prstGeom prst="rect">
            <a:avLst/>
          </a:prstGeom>
          <a:solidFill>
            <a:srgbClr val="F0FDF4"/>
          </a:solidFill>
          <a:ln w="6350">
            <a:solidFill>
              <a:srgbClr val="BBF7D0"/>
            </a:solidFill>
            <a:prstDash val="solid"/>
          </a:ln>
          <a:effectLst>
            <a:outerShdw sx="100000" sy="100000" kx="0" ky="0" algn="bl" rotWithShape="0" blurRad="76200" dist="25400" dir="8100000">
              <a:srgbClr val="000000">
                <a:alpha val="8000"/>
              </a:srgbClr>
            </a:outerShdw>
          </a:effectLst>
        </p:spPr>
      </p:sp>
      <p:sp>
        <p:nvSpPr>
          <p:cNvPr id="17" name="Text 15"/>
          <p:cNvSpPr/>
          <p:nvPr/>
        </p:nvSpPr>
        <p:spPr>
          <a:xfrm>
            <a:off x="6720840" y="1188720"/>
            <a:ext cx="182880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DESTINATION</a:t>
            </a:r>
            <a:endParaRPr lang="en-US" sz="700" dirty="0"/>
          </a:p>
        </p:txBody>
      </p:sp>
      <p:sp>
        <p:nvSpPr>
          <p:cNvPr id="18" name="Text 16"/>
          <p:cNvSpPr/>
          <p:nvPr/>
        </p:nvSpPr>
        <p:spPr>
          <a:xfrm>
            <a:off x="6720840" y="1371600"/>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Radiology — DICOM attribute dataset (Key=Value)</a:t>
            </a:r>
            <a:endParaRPr lang="en-US" sz="1000" dirty="0"/>
          </a:p>
        </p:txBody>
      </p:sp>
      <p:sp>
        <p:nvSpPr>
          <p:cNvPr id="19" name="Text 17"/>
          <p:cNvSpPr/>
          <p:nvPr/>
        </p:nvSpPr>
        <p:spPr>
          <a:xfrm>
            <a:off x="6583680" y="1664208"/>
            <a:ext cx="5074920" cy="1664208"/>
          </a:xfrm>
          <a:prstGeom prst="rect">
            <a:avLst/>
          </a:prstGeom>
          <a:noFill/>
          <a:ln/>
        </p:spPr>
        <p:txBody>
          <a:bodyPr wrap="square" lIns="0" tIns="0" rIns="0" bIns="0" rtlCol="0" anchor="t"/>
          <a:lstStyle/>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(0008,0060) Modality          = CR</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(0008,1030) StudyDescription   = Plain chest X-ray</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(0010,0010) PatientName        = Fadi^Halaweh</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(0010,0020) PatientID          = 000001</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(0010,0030) PatientBirthDate   = 19850312</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(0008,0100) CodeValue (SNOMED) = 399208008</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(0008,0104) CodeMeaning        = Plain chest X-ray</a:t>
            </a:r>
            <a:endParaRPr lang="en-US" sz="750" dirty="0"/>
          </a:p>
        </p:txBody>
      </p:sp>
      <p:sp>
        <p:nvSpPr>
          <p:cNvPr id="20" name="Shape 18"/>
          <p:cNvSpPr/>
          <p:nvPr/>
        </p:nvSpPr>
        <p:spPr>
          <a:xfrm>
            <a:off x="365760" y="3602736"/>
            <a:ext cx="3773424" cy="1938528"/>
          </a:xfrm>
          <a:prstGeom prst="rect">
            <a:avLst/>
          </a:prstGeom>
          <a:solidFill>
            <a:srgbClr val="DBEAFE"/>
          </a:solidFill>
          <a:ln w="6350">
            <a:solidFill>
              <a:srgbClr val="1E40AF"/>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365760" y="3602736"/>
            <a:ext cx="45720" cy="1938528"/>
          </a:xfrm>
          <a:prstGeom prst="rect">
            <a:avLst/>
          </a:prstGeom>
          <a:solidFill>
            <a:srgbClr val="1E40AF"/>
          </a:solidFill>
          <a:ln w="12700">
            <a:solidFill>
              <a:srgbClr val="1E40AF"/>
            </a:solidFill>
            <a:prstDash val="solid"/>
          </a:ln>
        </p:spPr>
      </p:sp>
      <p:sp>
        <p:nvSpPr>
          <p:cNvPr id="22" name="Text 20"/>
          <p:cNvSpPr/>
          <p:nvPr/>
        </p:nvSpPr>
        <p:spPr>
          <a:xfrm>
            <a:off x="493776" y="3694176"/>
            <a:ext cx="3535680" cy="237744"/>
          </a:xfrm>
          <a:prstGeom prst="rect">
            <a:avLst/>
          </a:prstGeom>
          <a:noFill/>
          <a:ln/>
        </p:spPr>
        <p:txBody>
          <a:bodyPr wrap="square" lIns="0" tIns="0" rIns="0" bIns="0" rtlCol="0" anchor="ctr"/>
          <a:lstStyle/>
          <a:p>
            <a:pPr indent="0" marL="0">
              <a:buNone/>
            </a:pPr>
            <a:r>
              <a:rPr lang="en-US" sz="800" b="1" spc="200" kern="0" dirty="0">
                <a:solidFill>
                  <a:srgbClr val="1E40AF"/>
                </a:solidFill>
                <a:latin typeface="Calibri" pitchFamily="34" charset="0"/>
                <a:ea typeface="Calibri" pitchFamily="34" charset="-122"/>
                <a:cs typeface="Calibri" pitchFamily="34" charset="-120"/>
              </a:rPr>
              <a:t>STRUCTURAL</a:t>
            </a:r>
            <a:endParaRPr lang="en-US" sz="800" dirty="0"/>
          </a:p>
        </p:txBody>
      </p:sp>
      <p:sp>
        <p:nvSpPr>
          <p:cNvPr id="23" name="Text 21"/>
          <p:cNvSpPr/>
          <p:nvPr/>
        </p:nvSpPr>
        <p:spPr>
          <a:xfrm>
            <a:off x="493776"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JSON admission → DICOM-style attribute dataset; (gggg,eeee) tag notation per DICOM PS 3.3</a:t>
            </a:r>
            <a:endParaRPr lang="en-US" sz="950" dirty="0"/>
          </a:p>
        </p:txBody>
      </p:sp>
      <p:sp>
        <p:nvSpPr>
          <p:cNvPr id="24" name="Shape 22"/>
          <p:cNvSpPr/>
          <p:nvPr/>
        </p:nvSpPr>
        <p:spPr>
          <a:xfrm>
            <a:off x="4212336" y="3602736"/>
            <a:ext cx="3773424" cy="1938528"/>
          </a:xfrm>
          <a:prstGeom prst="rect">
            <a:avLst/>
          </a:prstGeom>
          <a:solidFill>
            <a:srgbClr val="D1FAE5"/>
          </a:solidFill>
          <a:ln w="6350">
            <a:solidFill>
              <a:srgbClr val="0D9488"/>
            </a:solidFill>
            <a:prstDash val="solid"/>
          </a:ln>
          <a:effectLst>
            <a:outerShdw sx="100000" sy="100000" kx="0" ky="0" algn="bl" rotWithShape="0" blurRad="76200" dist="25400" dir="8100000">
              <a:srgbClr val="000000">
                <a:alpha val="8000"/>
              </a:srgbClr>
            </a:outerShdw>
          </a:effectLst>
        </p:spPr>
      </p:sp>
      <p:sp>
        <p:nvSpPr>
          <p:cNvPr id="25" name="Shape 23"/>
          <p:cNvSpPr/>
          <p:nvPr/>
        </p:nvSpPr>
        <p:spPr>
          <a:xfrm>
            <a:off x="4212336" y="3602736"/>
            <a:ext cx="45720" cy="1938528"/>
          </a:xfrm>
          <a:prstGeom prst="rect">
            <a:avLst/>
          </a:prstGeom>
          <a:solidFill>
            <a:srgbClr val="0D9488"/>
          </a:solidFill>
          <a:ln w="12700">
            <a:solidFill>
              <a:srgbClr val="0D9488"/>
            </a:solidFill>
            <a:prstDash val="solid"/>
          </a:ln>
        </p:spPr>
      </p:sp>
      <p:sp>
        <p:nvSpPr>
          <p:cNvPr id="26" name="Text 24"/>
          <p:cNvSpPr/>
          <p:nvPr/>
        </p:nvSpPr>
        <p:spPr>
          <a:xfrm>
            <a:off x="4340352" y="3694176"/>
            <a:ext cx="3535680" cy="237744"/>
          </a:xfrm>
          <a:prstGeom prst="rect">
            <a:avLst/>
          </a:prstGeom>
          <a:noFill/>
          <a:ln/>
        </p:spPr>
        <p:txBody>
          <a:bodyPr wrap="square" lIns="0" tIns="0" rIns="0" bIns="0"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SYNTACTIC</a:t>
            </a:r>
            <a:endParaRPr lang="en-US" sz="800" dirty="0"/>
          </a:p>
        </p:txBody>
      </p:sp>
      <p:sp>
        <p:nvSpPr>
          <p:cNvPr id="27" name="Text 25"/>
          <p:cNvSpPr/>
          <p:nvPr/>
        </p:nvSpPr>
        <p:spPr>
          <a:xfrm>
            <a:off x="4340352"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DICOM attribute tag format with group/element numbers; Modality, UIDs, and PatientName set per DICOM standard</a:t>
            </a:r>
            <a:endParaRPr lang="en-US" sz="950" dirty="0"/>
          </a:p>
        </p:txBody>
      </p:sp>
      <p:sp>
        <p:nvSpPr>
          <p:cNvPr id="28" name="Shape 26"/>
          <p:cNvSpPr/>
          <p:nvPr/>
        </p:nvSpPr>
        <p:spPr>
          <a:xfrm>
            <a:off x="8058912" y="3602736"/>
            <a:ext cx="3773424" cy="1938528"/>
          </a:xfrm>
          <a:prstGeom prst="rect">
            <a:avLst/>
          </a:prstGeom>
          <a:solidFill>
            <a:srgbClr val="FEF3C7"/>
          </a:solidFill>
          <a:ln w="6350">
            <a:solidFill>
              <a:srgbClr val="D97706"/>
            </a:solidFill>
            <a:prstDash val="solid"/>
          </a:ln>
          <a:effectLst>
            <a:outerShdw sx="100000" sy="100000" kx="0" ky="0" algn="bl" rotWithShape="0" blurRad="76200" dist="25400" dir="8100000">
              <a:srgbClr val="000000">
                <a:alpha val="8000"/>
              </a:srgbClr>
            </a:outerShdw>
          </a:effectLst>
        </p:spPr>
      </p:sp>
      <p:sp>
        <p:nvSpPr>
          <p:cNvPr id="29" name="Shape 27"/>
          <p:cNvSpPr/>
          <p:nvPr/>
        </p:nvSpPr>
        <p:spPr>
          <a:xfrm>
            <a:off x="8058912" y="3602736"/>
            <a:ext cx="45720" cy="1938528"/>
          </a:xfrm>
          <a:prstGeom prst="rect">
            <a:avLst/>
          </a:prstGeom>
          <a:solidFill>
            <a:srgbClr val="D97706"/>
          </a:solidFill>
          <a:ln w="12700">
            <a:solidFill>
              <a:srgbClr val="D97706"/>
            </a:solidFill>
            <a:prstDash val="solid"/>
          </a:ln>
        </p:spPr>
      </p:sp>
      <p:sp>
        <p:nvSpPr>
          <p:cNvPr id="30" name="Text 28"/>
          <p:cNvSpPr/>
          <p:nvPr/>
        </p:nvSpPr>
        <p:spPr>
          <a:xfrm>
            <a:off x="8186928" y="3694176"/>
            <a:ext cx="3535680" cy="237744"/>
          </a:xfrm>
          <a:prstGeom prst="rect">
            <a:avLst/>
          </a:prstGeom>
          <a:noFill/>
          <a:ln/>
        </p:spPr>
        <p:txBody>
          <a:bodyPr wrap="square" lIns="0" tIns="0" rIns="0" bIns="0" rtlCol="0" anchor="ctr"/>
          <a:lstStyle/>
          <a:p>
            <a:pPr indent="0" marL="0">
              <a:buNone/>
            </a:pPr>
            <a:r>
              <a:rPr lang="en-US" sz="800" b="1" spc="200" kern="0" dirty="0">
                <a:solidFill>
                  <a:srgbClr val="D97706"/>
                </a:solidFill>
                <a:latin typeface="Calibri" pitchFamily="34" charset="0"/>
                <a:ea typeface="Calibri" pitchFamily="34" charset="-122"/>
                <a:cs typeface="Calibri" pitchFamily="34" charset="-120"/>
              </a:rPr>
              <a:t>SEMANTIC</a:t>
            </a:r>
            <a:endParaRPr lang="en-US" sz="800" dirty="0"/>
          </a:p>
        </p:txBody>
      </p:sp>
      <p:sp>
        <p:nvSpPr>
          <p:cNvPr id="31" name="Text 29"/>
          <p:cNvSpPr/>
          <p:nvPr/>
        </p:nvSpPr>
        <p:spPr>
          <a:xfrm>
            <a:off x="8186928"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ICD-10 'I21.9' (Acute MI) → SNOMED CT procedure '399208008' (Plain chest X-ray); modality = CR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59669"/>
          </a:solidFill>
          <a:ln w="12700">
            <a:solidFill>
              <a:srgbClr val="059669"/>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Channel 5: Hospital ED → Pharmacy</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FHIR R4 MedicationRequest  |  RxNorm drug coding</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11155680" y="91440"/>
            <a:ext cx="685800" cy="320040"/>
          </a:xfrm>
          <a:prstGeom prst="rect">
            <a:avLst/>
          </a:prstGeom>
          <a:solidFill>
            <a:srgbClr val="059669"/>
          </a:solidFill>
          <a:ln w="12700">
            <a:solidFill>
              <a:srgbClr val="059669"/>
            </a:solidFill>
            <a:prstDash val="solid"/>
          </a:ln>
        </p:spPr>
      </p:sp>
      <p:sp>
        <p:nvSpPr>
          <p:cNvPr id="9" name="Text 7"/>
          <p:cNvSpPr/>
          <p:nvPr/>
        </p:nvSpPr>
        <p:spPr>
          <a:xfrm>
            <a:off x="11155680" y="91440"/>
            <a:ext cx="68580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 5</a:t>
            </a:r>
            <a:endParaRPr lang="en-US" sz="1000" dirty="0"/>
          </a:p>
        </p:txBody>
      </p:sp>
      <p:sp>
        <p:nvSpPr>
          <p:cNvPr id="10" name="Shape 8"/>
          <p:cNvSpPr/>
          <p:nvPr/>
        </p:nvSpPr>
        <p:spPr>
          <a:xfrm>
            <a:off x="365760" y="1097280"/>
            <a:ext cx="5029200" cy="2331720"/>
          </a:xfrm>
          <a:prstGeom prst="rect">
            <a:avLst/>
          </a:prstGeom>
          <a:solidFill>
            <a:srgbClr val="EFF6FF"/>
          </a:solidFill>
          <a:ln w="6350">
            <a:solidFill>
              <a:srgbClr val="BFDBFE"/>
            </a:solidFill>
            <a:prstDash val="solid"/>
          </a:ln>
          <a:effectLst>
            <a:outerShdw sx="100000" sy="100000" kx="0" ky="0" algn="bl" rotWithShape="0" blurRad="76200" dist="25400" dir="8100000">
              <a:srgbClr val="000000">
                <a:alpha val="8000"/>
              </a:srgbClr>
            </a:outerShdw>
          </a:effectLst>
        </p:spPr>
      </p:sp>
      <p:sp>
        <p:nvSpPr>
          <p:cNvPr id="11" name="Text 9"/>
          <p:cNvSpPr/>
          <p:nvPr/>
        </p:nvSpPr>
        <p:spPr>
          <a:xfrm>
            <a:off x="502920" y="1188720"/>
            <a:ext cx="1371600" cy="201168"/>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SOURCE</a:t>
            </a:r>
            <a:endParaRPr lang="en-US" sz="700" dirty="0"/>
          </a:p>
        </p:txBody>
      </p:sp>
      <p:sp>
        <p:nvSpPr>
          <p:cNvPr id="12" name="Text 10"/>
          <p:cNvSpPr/>
          <p:nvPr/>
        </p:nvSpPr>
        <p:spPr>
          <a:xfrm>
            <a:off x="502920" y="1371600"/>
            <a:ext cx="475488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Hospital ED — Admission record (JSON)</a:t>
            </a:r>
            <a:endParaRPr lang="en-US" sz="1000" dirty="0"/>
          </a:p>
        </p:txBody>
      </p:sp>
      <p:sp>
        <p:nvSpPr>
          <p:cNvPr id="13" name="Text 11"/>
          <p:cNvSpPr/>
          <p:nvPr/>
        </p:nvSpPr>
        <p:spPr>
          <a:xfrm>
            <a:off x="457200" y="1664208"/>
            <a:ext cx="4892040" cy="1664208"/>
          </a:xfrm>
          <a:prstGeom prst="rect">
            <a:avLst/>
          </a:prstGeom>
          <a:noFill/>
          <a:ln/>
        </p:spPr>
        <p:txBody>
          <a:bodyPr wrap="square" lIns="0" tIns="0" rIns="0" bIns="0" rtlCol="0" anchor="t"/>
          <a:lstStyle/>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patient_name:        Fadi Halaweh</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icd10_code:          I21.9</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diagnosis:           Acute myocardial infarction</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attending_physician: Dr. Khalid Mansour</a:t>
            </a:r>
            <a:endParaRPr lang="en-US" sz="800" dirty="0"/>
          </a:p>
          <a:p>
            <a:pPr indent="0" marL="0">
              <a:lnSpc>
                <a:spcPct val="150000"/>
              </a:lnSpc>
              <a:buNone/>
            </a:pPr>
            <a:r>
              <a:rPr lang="en-US" sz="800" dirty="0">
                <a:solidFill>
                  <a:srgbClr val="0F172A"/>
                </a:solidFill>
                <a:latin typeface="Consolas" pitchFamily="34" charset="0"/>
                <a:ea typeface="Consolas" pitchFamily="34" charset="-122"/>
                <a:cs typeface="Consolas" pitchFamily="34" charset="-120"/>
              </a:rPr>
              <a:t>admission_date:      2026-06-10</a:t>
            </a:r>
            <a:endParaRPr lang="en-US" sz="800" dirty="0"/>
          </a:p>
        </p:txBody>
      </p:sp>
      <p:sp>
        <p:nvSpPr>
          <p:cNvPr id="14" name="Shape 12"/>
          <p:cNvSpPr/>
          <p:nvPr/>
        </p:nvSpPr>
        <p:spPr>
          <a:xfrm>
            <a:off x="5577840" y="2148840"/>
            <a:ext cx="822960" cy="27432"/>
          </a:xfrm>
          <a:prstGeom prst="rect">
            <a:avLst/>
          </a:prstGeom>
          <a:solidFill>
            <a:srgbClr val="059669"/>
          </a:solidFill>
          <a:ln w="12700">
            <a:solidFill>
              <a:srgbClr val="059669"/>
            </a:solidFill>
            <a:prstDash val="solid"/>
          </a:ln>
        </p:spPr>
      </p:sp>
      <p:sp>
        <p:nvSpPr>
          <p:cNvPr id="15" name="Text 13"/>
          <p:cNvSpPr/>
          <p:nvPr/>
        </p:nvSpPr>
        <p:spPr>
          <a:xfrm>
            <a:off x="5486400" y="1965960"/>
            <a:ext cx="1005840" cy="384048"/>
          </a:xfrm>
          <a:prstGeom prst="rect">
            <a:avLst/>
          </a:prstGeom>
          <a:noFill/>
          <a:ln/>
        </p:spPr>
        <p:txBody>
          <a:bodyPr wrap="square" lIns="0" tIns="0" rIns="0" bIns="0" rtlCol="0" anchor="ctr"/>
          <a:lstStyle/>
          <a:p>
            <a:pPr algn="ctr" indent="0" marL="0">
              <a:buNone/>
            </a:pPr>
            <a:r>
              <a:rPr lang="en-US" sz="2000" b="1" dirty="0">
                <a:solidFill>
                  <a:srgbClr val="059669"/>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583680" y="1097280"/>
            <a:ext cx="5212080" cy="2331720"/>
          </a:xfrm>
          <a:prstGeom prst="rect">
            <a:avLst/>
          </a:prstGeom>
          <a:solidFill>
            <a:srgbClr val="F0FDF4"/>
          </a:solidFill>
          <a:ln w="6350">
            <a:solidFill>
              <a:srgbClr val="BBF7D0"/>
            </a:solidFill>
            <a:prstDash val="solid"/>
          </a:ln>
          <a:effectLst>
            <a:outerShdw sx="100000" sy="100000" kx="0" ky="0" algn="bl" rotWithShape="0" blurRad="76200" dist="25400" dir="8100000">
              <a:srgbClr val="000000">
                <a:alpha val="8000"/>
              </a:srgbClr>
            </a:outerShdw>
          </a:effectLst>
        </p:spPr>
      </p:sp>
      <p:sp>
        <p:nvSpPr>
          <p:cNvPr id="17" name="Text 15"/>
          <p:cNvSpPr/>
          <p:nvPr/>
        </p:nvSpPr>
        <p:spPr>
          <a:xfrm>
            <a:off x="6720840" y="1188720"/>
            <a:ext cx="182880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DESTINATION</a:t>
            </a:r>
            <a:endParaRPr lang="en-US" sz="700" dirty="0"/>
          </a:p>
        </p:txBody>
      </p:sp>
      <p:sp>
        <p:nvSpPr>
          <p:cNvPr id="18" name="Text 16"/>
          <p:cNvSpPr/>
          <p:nvPr/>
        </p:nvSpPr>
        <p:spPr>
          <a:xfrm>
            <a:off x="6720840" y="1371600"/>
            <a:ext cx="4937760" cy="256032"/>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Pharmacy — FHIR R4 MedicationRequest (JSON)</a:t>
            </a:r>
            <a:endParaRPr lang="en-US" sz="1000" dirty="0"/>
          </a:p>
        </p:txBody>
      </p:sp>
      <p:sp>
        <p:nvSpPr>
          <p:cNvPr id="19" name="Text 17"/>
          <p:cNvSpPr/>
          <p:nvPr/>
        </p:nvSpPr>
        <p:spPr>
          <a:xfrm>
            <a:off x="6583680" y="1664208"/>
            <a:ext cx="5074920" cy="1664208"/>
          </a:xfrm>
          <a:prstGeom prst="rect">
            <a:avLst/>
          </a:prstGeom>
          <a:noFill/>
          <a:ln/>
        </p:spPr>
        <p:txBody>
          <a:bodyPr wrap="square" lIns="0" tIns="0" rIns="0" bIns="0" rtlCol="0" anchor="t"/>
          <a:lstStyle/>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"resourceType": "MedicationRequest",</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"status": "active",</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"medicationCodeableConcept": {</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"coding": [{ "system": "...rxnorm",</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"code": "308460",</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"display": "Clopidogrel" }]</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"dosageInstruction": [{</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"text": "1 tablet once daily",</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"route": { "coding": [{"code":"26643006"}] }</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  }]</a:t>
            </a:r>
            <a:endParaRPr lang="en-US" sz="750" dirty="0"/>
          </a:p>
          <a:p>
            <a:pPr indent="0" marL="0">
              <a:lnSpc>
                <a:spcPct val="145000"/>
              </a:lnSpc>
              <a:buNone/>
            </a:pPr>
            <a:r>
              <a:rPr lang="en-US" sz="750" dirty="0">
                <a:solidFill>
                  <a:srgbClr val="0F172A"/>
                </a:solidFill>
                <a:latin typeface="Consolas" pitchFamily="34" charset="0"/>
                <a:ea typeface="Consolas" pitchFamily="34" charset="-122"/>
                <a:cs typeface="Consolas" pitchFamily="34" charset="-120"/>
              </a:rPr>
              <a:t>}</a:t>
            </a:r>
            <a:endParaRPr lang="en-US" sz="750" dirty="0"/>
          </a:p>
        </p:txBody>
      </p:sp>
      <p:sp>
        <p:nvSpPr>
          <p:cNvPr id="20" name="Shape 18"/>
          <p:cNvSpPr/>
          <p:nvPr/>
        </p:nvSpPr>
        <p:spPr>
          <a:xfrm>
            <a:off x="365760" y="3602736"/>
            <a:ext cx="3773424" cy="1938528"/>
          </a:xfrm>
          <a:prstGeom prst="rect">
            <a:avLst/>
          </a:prstGeom>
          <a:solidFill>
            <a:srgbClr val="DBEAFE"/>
          </a:solidFill>
          <a:ln w="6350">
            <a:solidFill>
              <a:srgbClr val="1E40AF"/>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365760" y="3602736"/>
            <a:ext cx="45720" cy="1938528"/>
          </a:xfrm>
          <a:prstGeom prst="rect">
            <a:avLst/>
          </a:prstGeom>
          <a:solidFill>
            <a:srgbClr val="1E40AF"/>
          </a:solidFill>
          <a:ln w="12700">
            <a:solidFill>
              <a:srgbClr val="1E40AF"/>
            </a:solidFill>
            <a:prstDash val="solid"/>
          </a:ln>
        </p:spPr>
      </p:sp>
      <p:sp>
        <p:nvSpPr>
          <p:cNvPr id="22" name="Text 20"/>
          <p:cNvSpPr/>
          <p:nvPr/>
        </p:nvSpPr>
        <p:spPr>
          <a:xfrm>
            <a:off x="493776" y="3694176"/>
            <a:ext cx="3535680" cy="237744"/>
          </a:xfrm>
          <a:prstGeom prst="rect">
            <a:avLst/>
          </a:prstGeom>
          <a:noFill/>
          <a:ln/>
        </p:spPr>
        <p:txBody>
          <a:bodyPr wrap="square" lIns="0" tIns="0" rIns="0" bIns="0" rtlCol="0" anchor="ctr"/>
          <a:lstStyle/>
          <a:p>
            <a:pPr indent="0" marL="0">
              <a:buNone/>
            </a:pPr>
            <a:r>
              <a:rPr lang="en-US" sz="800" b="1" spc="200" kern="0" dirty="0">
                <a:solidFill>
                  <a:srgbClr val="1E40AF"/>
                </a:solidFill>
                <a:latin typeface="Calibri" pitchFamily="34" charset="0"/>
                <a:ea typeface="Calibri" pitchFamily="34" charset="-122"/>
                <a:cs typeface="Calibri" pitchFamily="34" charset="-120"/>
              </a:rPr>
              <a:t>STRUCTURAL</a:t>
            </a:r>
            <a:endParaRPr lang="en-US" sz="800" dirty="0"/>
          </a:p>
        </p:txBody>
      </p:sp>
      <p:sp>
        <p:nvSpPr>
          <p:cNvPr id="23" name="Text 21"/>
          <p:cNvSpPr/>
          <p:nvPr/>
        </p:nvSpPr>
        <p:spPr>
          <a:xfrm>
            <a:off x="493776"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ED admission dict → FHIR R4 MedicationRequest JSON resource with medicationCodeableConcept, subject, requester, reasonCode, dosageInstruction</a:t>
            </a:r>
            <a:endParaRPr lang="en-US" sz="950" dirty="0"/>
          </a:p>
        </p:txBody>
      </p:sp>
      <p:sp>
        <p:nvSpPr>
          <p:cNvPr id="24" name="Shape 22"/>
          <p:cNvSpPr/>
          <p:nvPr/>
        </p:nvSpPr>
        <p:spPr>
          <a:xfrm>
            <a:off x="4212336" y="3602736"/>
            <a:ext cx="3773424" cy="1938528"/>
          </a:xfrm>
          <a:prstGeom prst="rect">
            <a:avLst/>
          </a:prstGeom>
          <a:solidFill>
            <a:srgbClr val="D1FAE5"/>
          </a:solidFill>
          <a:ln w="6350">
            <a:solidFill>
              <a:srgbClr val="0D9488"/>
            </a:solidFill>
            <a:prstDash val="solid"/>
          </a:ln>
          <a:effectLst>
            <a:outerShdw sx="100000" sy="100000" kx="0" ky="0" algn="bl" rotWithShape="0" blurRad="76200" dist="25400" dir="8100000">
              <a:srgbClr val="000000">
                <a:alpha val="8000"/>
              </a:srgbClr>
            </a:outerShdw>
          </a:effectLst>
        </p:spPr>
      </p:sp>
      <p:sp>
        <p:nvSpPr>
          <p:cNvPr id="25" name="Shape 23"/>
          <p:cNvSpPr/>
          <p:nvPr/>
        </p:nvSpPr>
        <p:spPr>
          <a:xfrm>
            <a:off x="4212336" y="3602736"/>
            <a:ext cx="45720" cy="1938528"/>
          </a:xfrm>
          <a:prstGeom prst="rect">
            <a:avLst/>
          </a:prstGeom>
          <a:solidFill>
            <a:srgbClr val="0D9488"/>
          </a:solidFill>
          <a:ln w="12700">
            <a:solidFill>
              <a:srgbClr val="0D9488"/>
            </a:solidFill>
            <a:prstDash val="solid"/>
          </a:ln>
        </p:spPr>
      </p:sp>
      <p:sp>
        <p:nvSpPr>
          <p:cNvPr id="26" name="Text 24"/>
          <p:cNvSpPr/>
          <p:nvPr/>
        </p:nvSpPr>
        <p:spPr>
          <a:xfrm>
            <a:off x="4340352" y="3694176"/>
            <a:ext cx="3535680" cy="237744"/>
          </a:xfrm>
          <a:prstGeom prst="rect">
            <a:avLst/>
          </a:prstGeom>
          <a:noFill/>
          <a:ln/>
        </p:spPr>
        <p:txBody>
          <a:bodyPr wrap="square" lIns="0" tIns="0" rIns="0" bIns="0" rtlCol="0" anchor="ctr"/>
          <a:lstStyle/>
          <a:p>
            <a:pPr indent="0" marL="0">
              <a:buNone/>
            </a:pPr>
            <a:r>
              <a:rPr lang="en-US" sz="800" b="1" spc="200" kern="0" dirty="0">
                <a:solidFill>
                  <a:srgbClr val="0D9488"/>
                </a:solidFill>
                <a:latin typeface="Calibri" pitchFamily="34" charset="0"/>
                <a:ea typeface="Calibri" pitchFamily="34" charset="-122"/>
                <a:cs typeface="Calibri" pitchFamily="34" charset="-120"/>
              </a:rPr>
              <a:t>SYNTACTIC</a:t>
            </a:r>
            <a:endParaRPr lang="en-US" sz="800" dirty="0"/>
          </a:p>
        </p:txBody>
      </p:sp>
      <p:sp>
        <p:nvSpPr>
          <p:cNvPr id="27" name="Text 25"/>
          <p:cNvSpPr/>
          <p:nvPr/>
        </p:nvSpPr>
        <p:spPr>
          <a:xfrm>
            <a:off x="4340352"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FHIR RESTful JSON; resource type, status, intent, coding per HL7 FHIR R4 spec; route coded in SNOMED CT (26643006 = oral)</a:t>
            </a:r>
            <a:endParaRPr lang="en-US" sz="950" dirty="0"/>
          </a:p>
        </p:txBody>
      </p:sp>
      <p:sp>
        <p:nvSpPr>
          <p:cNvPr id="28" name="Shape 26"/>
          <p:cNvSpPr/>
          <p:nvPr/>
        </p:nvSpPr>
        <p:spPr>
          <a:xfrm>
            <a:off x="8058912" y="3602736"/>
            <a:ext cx="3773424" cy="1938528"/>
          </a:xfrm>
          <a:prstGeom prst="rect">
            <a:avLst/>
          </a:prstGeom>
          <a:solidFill>
            <a:srgbClr val="FEF3C7"/>
          </a:solidFill>
          <a:ln w="6350">
            <a:solidFill>
              <a:srgbClr val="D97706"/>
            </a:solidFill>
            <a:prstDash val="solid"/>
          </a:ln>
          <a:effectLst>
            <a:outerShdw sx="100000" sy="100000" kx="0" ky="0" algn="bl" rotWithShape="0" blurRad="76200" dist="25400" dir="8100000">
              <a:srgbClr val="000000">
                <a:alpha val="8000"/>
              </a:srgbClr>
            </a:outerShdw>
          </a:effectLst>
        </p:spPr>
      </p:sp>
      <p:sp>
        <p:nvSpPr>
          <p:cNvPr id="29" name="Shape 27"/>
          <p:cNvSpPr/>
          <p:nvPr/>
        </p:nvSpPr>
        <p:spPr>
          <a:xfrm>
            <a:off x="8058912" y="3602736"/>
            <a:ext cx="45720" cy="1938528"/>
          </a:xfrm>
          <a:prstGeom prst="rect">
            <a:avLst/>
          </a:prstGeom>
          <a:solidFill>
            <a:srgbClr val="D97706"/>
          </a:solidFill>
          <a:ln w="12700">
            <a:solidFill>
              <a:srgbClr val="D97706"/>
            </a:solidFill>
            <a:prstDash val="solid"/>
          </a:ln>
        </p:spPr>
      </p:sp>
      <p:sp>
        <p:nvSpPr>
          <p:cNvPr id="30" name="Text 28"/>
          <p:cNvSpPr/>
          <p:nvPr/>
        </p:nvSpPr>
        <p:spPr>
          <a:xfrm>
            <a:off x="8186928" y="3694176"/>
            <a:ext cx="3535680" cy="237744"/>
          </a:xfrm>
          <a:prstGeom prst="rect">
            <a:avLst/>
          </a:prstGeom>
          <a:noFill/>
          <a:ln/>
        </p:spPr>
        <p:txBody>
          <a:bodyPr wrap="square" lIns="0" tIns="0" rIns="0" bIns="0" rtlCol="0" anchor="ctr"/>
          <a:lstStyle/>
          <a:p>
            <a:pPr indent="0" marL="0">
              <a:buNone/>
            </a:pPr>
            <a:r>
              <a:rPr lang="en-US" sz="800" b="1" spc="200" kern="0" dirty="0">
                <a:solidFill>
                  <a:srgbClr val="D97706"/>
                </a:solidFill>
                <a:latin typeface="Calibri" pitchFamily="34" charset="0"/>
                <a:ea typeface="Calibri" pitchFamily="34" charset="-122"/>
                <a:cs typeface="Calibri" pitchFamily="34" charset="-120"/>
              </a:rPr>
              <a:t>SEMANTIC</a:t>
            </a:r>
            <a:endParaRPr lang="en-US" sz="800" dirty="0"/>
          </a:p>
        </p:txBody>
      </p:sp>
      <p:sp>
        <p:nvSpPr>
          <p:cNvPr id="31" name="Text 29"/>
          <p:cNvSpPr/>
          <p:nvPr/>
        </p:nvSpPr>
        <p:spPr>
          <a:xfrm>
            <a:off x="8186928" y="3950208"/>
            <a:ext cx="3535680" cy="1481328"/>
          </a:xfrm>
          <a:prstGeom prst="rect">
            <a:avLst/>
          </a:prstGeom>
          <a:noFill/>
          <a:ln/>
        </p:spPr>
        <p:txBody>
          <a:bodyPr wrap="square" lIns="0" tIns="0" rIns="0" bIns="0" rtlCol="0" anchor="t"/>
          <a:lstStyle/>
          <a:p>
            <a:pPr indent="0" marL="0">
              <a:lnSpc>
                <a:spcPct val="145000"/>
              </a:lnSpc>
              <a:buNone/>
            </a:pPr>
            <a:r>
              <a:rPr lang="en-US" sz="950" dirty="0">
                <a:solidFill>
                  <a:srgbClr val="0F172A"/>
                </a:solidFill>
                <a:latin typeface="Calibri" pitchFamily="34" charset="0"/>
                <a:ea typeface="Calibri" pitchFamily="34" charset="-122"/>
                <a:cs typeface="Calibri" pitchFamily="34" charset="-120"/>
              </a:rPr>
              <a:t>ICD-10 'I21.9' (Acute MI) → RxNorm '308460' (Clopidogrel 75mg once daily); oral route = SNOMED 26643006</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E3A8A"/>
          </a:solidFill>
          <a:ln w="12700">
            <a:solidFill>
              <a:srgbClr val="1E3A8A"/>
            </a:solidFill>
            <a:prstDash val="solid"/>
          </a:ln>
        </p:spPr>
      </p:sp>
      <p:sp>
        <p:nvSpPr>
          <p:cNvPr id="3" name="Text 1"/>
          <p:cNvSpPr/>
          <p:nvPr/>
        </p:nvSpPr>
        <p:spPr>
          <a:xfrm>
            <a:off x="365760" y="164592"/>
            <a:ext cx="11430000" cy="50292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Interoperability Framework</a:t>
            </a:r>
            <a:endParaRPr lang="en-US" sz="2200" dirty="0"/>
          </a:p>
        </p:txBody>
      </p:sp>
      <p:sp>
        <p:nvSpPr>
          <p:cNvPr id="4" name="Text 2"/>
          <p:cNvSpPr/>
          <p:nvPr/>
        </p:nvSpPr>
        <p:spPr>
          <a:xfrm>
            <a:off x="365760" y="658368"/>
            <a:ext cx="1143000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Complete data exchange architecture across all providers</a:t>
            </a:r>
            <a:endParaRPr lang="en-US" sz="1100" dirty="0"/>
          </a:p>
        </p:txBody>
      </p:sp>
      <p:sp>
        <p:nvSpPr>
          <p:cNvPr id="5" name="Shape 3"/>
          <p:cNvSpPr/>
          <p:nvPr/>
        </p:nvSpPr>
        <p:spPr>
          <a:xfrm>
            <a:off x="365760" y="969264"/>
            <a:ext cx="11430000" cy="18288"/>
          </a:xfrm>
          <a:prstGeom prst="rect">
            <a:avLst/>
          </a:prstGeom>
          <a:solidFill>
            <a:srgbClr val="E2E8F0"/>
          </a:solidFill>
          <a:ln w="12700">
            <a:solidFill>
              <a:srgbClr val="E2E8F0"/>
            </a:solidFill>
            <a:prstDash val="solid"/>
          </a:ln>
        </p:spPr>
      </p:sp>
      <p:sp>
        <p:nvSpPr>
          <p:cNvPr id="6" name="Shape 4"/>
          <p:cNvSpPr/>
          <p:nvPr/>
        </p:nvSpPr>
        <p:spPr>
          <a:xfrm>
            <a:off x="0" y="6537960"/>
            <a:ext cx="12161520" cy="320040"/>
          </a:xfrm>
          <a:prstGeom prst="rect">
            <a:avLst/>
          </a:prstGeom>
          <a:solidFill>
            <a:srgbClr val="0F172A"/>
          </a:solidFill>
          <a:ln w="12700">
            <a:solidFill>
              <a:srgbClr val="0F172A"/>
            </a:solidFill>
            <a:prstDash val="solid"/>
          </a:ln>
        </p:spPr>
      </p:sp>
      <p:sp>
        <p:nvSpPr>
          <p:cNvPr id="7" name="Text 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COMP3342 — Health Systems Interoperability &amp; Integration</a:t>
            </a:r>
            <a:endParaRPr lang="en-US" sz="900" dirty="0"/>
          </a:p>
        </p:txBody>
      </p:sp>
      <p:sp>
        <p:nvSpPr>
          <p:cNvPr id="8" name="Shape 6"/>
          <p:cNvSpPr/>
          <p:nvPr/>
        </p:nvSpPr>
        <p:spPr>
          <a:xfrm>
            <a:off x="5074920" y="2560320"/>
            <a:ext cx="2011680" cy="731520"/>
          </a:xfrm>
          <a:prstGeom prst="rect">
            <a:avLst/>
          </a:prstGeom>
          <a:solidFill>
            <a:srgbClr val="EFF6FF"/>
          </a:solidFill>
          <a:ln w="6350">
            <a:solidFill>
              <a:srgbClr val="1E40AF"/>
            </a:solidFill>
            <a:prstDash val="solid"/>
          </a:ln>
          <a:effectLst>
            <a:outerShdw sx="100000" sy="100000" kx="0" ky="0" algn="bl" rotWithShape="0" blurRad="76200" dist="25400" dir="8100000">
              <a:srgbClr val="000000">
                <a:alpha val="8000"/>
              </a:srgbClr>
            </a:outerShdw>
          </a:effectLst>
        </p:spPr>
      </p:sp>
      <p:sp>
        <p:nvSpPr>
          <p:cNvPr id="9" name="Shape 7"/>
          <p:cNvSpPr/>
          <p:nvPr/>
        </p:nvSpPr>
        <p:spPr>
          <a:xfrm>
            <a:off x="5074920" y="2560320"/>
            <a:ext cx="54864" cy="731520"/>
          </a:xfrm>
          <a:prstGeom prst="rect">
            <a:avLst/>
          </a:prstGeom>
          <a:solidFill>
            <a:srgbClr val="1E40AF"/>
          </a:solidFill>
          <a:ln w="12700">
            <a:solidFill>
              <a:srgbClr val="1E40AF"/>
            </a:solidFill>
            <a:prstDash val="solid"/>
          </a:ln>
        </p:spPr>
      </p:sp>
      <p:sp>
        <p:nvSpPr>
          <p:cNvPr id="10" name="Text 8"/>
          <p:cNvSpPr/>
          <p:nvPr/>
        </p:nvSpPr>
        <p:spPr>
          <a:xfrm>
            <a:off x="5166360" y="2578608"/>
            <a:ext cx="1874520" cy="694944"/>
          </a:xfrm>
          <a:prstGeom prst="rect">
            <a:avLst/>
          </a:prstGeom>
          <a:noFill/>
          <a:ln/>
        </p:spPr>
        <p:txBody>
          <a:bodyPr wrap="square" lIns="0" tIns="0" rIns="0" bIns="0" rtlCol="0" anchor="ctr"/>
          <a:lstStyle/>
          <a:p>
            <a:pPr algn="ctr" indent="0" marL="0">
              <a:lnSpc>
                <a:spcPct val="130000"/>
              </a:lnSpc>
              <a:buNone/>
            </a:pPr>
            <a:r>
              <a:rPr lang="en-US" sz="900" b="1" dirty="0">
                <a:solidFill>
                  <a:srgbClr val="1E40AF"/>
                </a:solidFill>
                <a:latin typeface="Calibri" pitchFamily="34" charset="0"/>
                <a:ea typeface="Calibri" pitchFamily="34" charset="-122"/>
                <a:cs typeface="Calibri" pitchFamily="34" charset="-120"/>
              </a:rPr>
              <a:t>PATIENT</a:t>
            </a:r>
            <a:endParaRPr lang="en-US" sz="900" dirty="0"/>
          </a:p>
          <a:p>
            <a:pPr algn="ctr" indent="0" marL="0">
              <a:lnSpc>
                <a:spcPct val="130000"/>
              </a:lnSpc>
              <a:buNone/>
            </a:pPr>
            <a:r>
              <a:rPr lang="en-US" sz="900" b="1" dirty="0">
                <a:solidFill>
                  <a:srgbClr val="1E40AF"/>
                </a:solidFill>
                <a:latin typeface="Calibri" pitchFamily="34" charset="0"/>
                <a:ea typeface="Calibri" pitchFamily="34" charset="-122"/>
                <a:cs typeface="Calibri" pitchFamily="34" charset="-120"/>
              </a:rPr>
              <a:t>Fadi Halaweh</a:t>
            </a:r>
            <a:endParaRPr lang="en-US" sz="900" dirty="0"/>
          </a:p>
        </p:txBody>
      </p:sp>
      <p:sp>
        <p:nvSpPr>
          <p:cNvPr id="11" name="Shape 9"/>
          <p:cNvSpPr/>
          <p:nvPr/>
        </p:nvSpPr>
        <p:spPr>
          <a:xfrm>
            <a:off x="457200" y="2651760"/>
            <a:ext cx="2286000" cy="685800"/>
          </a:xfrm>
          <a:prstGeom prst="rect">
            <a:avLst/>
          </a:prstGeom>
          <a:solidFill>
            <a:srgbClr val="EFF6FF"/>
          </a:solidFill>
          <a:ln w="6350">
            <a:solidFill>
              <a:srgbClr val="1E40AF"/>
            </a:solidFill>
            <a:prstDash val="solid"/>
          </a:ln>
          <a:effectLst>
            <a:outerShdw sx="100000" sy="100000" kx="0" ky="0" algn="bl" rotWithShape="0" blurRad="76200" dist="25400" dir="8100000">
              <a:srgbClr val="000000">
                <a:alpha val="8000"/>
              </a:srgbClr>
            </a:outerShdw>
          </a:effectLst>
        </p:spPr>
      </p:sp>
      <p:sp>
        <p:nvSpPr>
          <p:cNvPr id="12" name="Shape 10"/>
          <p:cNvSpPr/>
          <p:nvPr/>
        </p:nvSpPr>
        <p:spPr>
          <a:xfrm>
            <a:off x="457200" y="2651760"/>
            <a:ext cx="54864" cy="685800"/>
          </a:xfrm>
          <a:prstGeom prst="rect">
            <a:avLst/>
          </a:prstGeom>
          <a:solidFill>
            <a:srgbClr val="1E40AF"/>
          </a:solidFill>
          <a:ln w="12700">
            <a:solidFill>
              <a:srgbClr val="1E40AF"/>
            </a:solidFill>
            <a:prstDash val="solid"/>
          </a:ln>
        </p:spPr>
      </p:sp>
      <p:sp>
        <p:nvSpPr>
          <p:cNvPr id="13" name="Text 11"/>
          <p:cNvSpPr/>
          <p:nvPr/>
        </p:nvSpPr>
        <p:spPr>
          <a:xfrm>
            <a:off x="566928" y="2651760"/>
            <a:ext cx="2148840" cy="6858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GP Clinic</a:t>
            </a:r>
            <a:endParaRPr lang="en-US" sz="1100" dirty="0"/>
          </a:p>
        </p:txBody>
      </p:sp>
      <p:sp>
        <p:nvSpPr>
          <p:cNvPr id="14" name="Shape 12"/>
          <p:cNvSpPr/>
          <p:nvPr/>
        </p:nvSpPr>
        <p:spPr>
          <a:xfrm>
            <a:off x="4206240" y="1188720"/>
            <a:ext cx="2286000" cy="685800"/>
          </a:xfrm>
          <a:prstGeom prst="rect">
            <a:avLst/>
          </a:prstGeom>
          <a:solidFill>
            <a:srgbClr val="EDE9FE"/>
          </a:solidFill>
          <a:ln w="6350">
            <a:solidFill>
              <a:srgbClr val="7C3AED"/>
            </a:solidFill>
            <a:prstDash val="solid"/>
          </a:ln>
          <a:effectLst>
            <a:outerShdw sx="100000" sy="100000" kx="0" ky="0" algn="bl" rotWithShape="0" blurRad="76200" dist="25400" dir="8100000">
              <a:srgbClr val="000000">
                <a:alpha val="8000"/>
              </a:srgbClr>
            </a:outerShdw>
          </a:effectLst>
        </p:spPr>
      </p:sp>
      <p:sp>
        <p:nvSpPr>
          <p:cNvPr id="15" name="Shape 13"/>
          <p:cNvSpPr/>
          <p:nvPr/>
        </p:nvSpPr>
        <p:spPr>
          <a:xfrm>
            <a:off x="4206240" y="1188720"/>
            <a:ext cx="54864" cy="685800"/>
          </a:xfrm>
          <a:prstGeom prst="rect">
            <a:avLst/>
          </a:prstGeom>
          <a:solidFill>
            <a:srgbClr val="7C3AED"/>
          </a:solidFill>
          <a:ln w="12700">
            <a:solidFill>
              <a:srgbClr val="7C3AED"/>
            </a:solidFill>
            <a:prstDash val="solid"/>
          </a:ln>
        </p:spPr>
      </p:sp>
      <p:sp>
        <p:nvSpPr>
          <p:cNvPr id="16" name="Text 14"/>
          <p:cNvSpPr/>
          <p:nvPr/>
        </p:nvSpPr>
        <p:spPr>
          <a:xfrm>
            <a:off x="4315968" y="1188720"/>
            <a:ext cx="2148840" cy="6858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Hospital ED</a:t>
            </a:r>
            <a:endParaRPr lang="en-US" sz="1100" dirty="0"/>
          </a:p>
        </p:txBody>
      </p:sp>
      <p:sp>
        <p:nvSpPr>
          <p:cNvPr id="17" name="Shape 15"/>
          <p:cNvSpPr/>
          <p:nvPr/>
        </p:nvSpPr>
        <p:spPr>
          <a:xfrm>
            <a:off x="8412480" y="1188720"/>
            <a:ext cx="2286000" cy="685800"/>
          </a:xfrm>
          <a:prstGeom prst="rect">
            <a:avLst/>
          </a:prstGeom>
          <a:solidFill>
            <a:srgbClr val="CCFBF1"/>
          </a:solidFill>
          <a:ln w="6350">
            <a:solidFill>
              <a:srgbClr val="0D9488"/>
            </a:solidFill>
            <a:prstDash val="solid"/>
          </a:ln>
          <a:effectLst>
            <a:outerShdw sx="100000" sy="100000" kx="0" ky="0" algn="bl" rotWithShape="0" blurRad="76200" dist="25400" dir="8100000">
              <a:srgbClr val="000000">
                <a:alpha val="8000"/>
              </a:srgbClr>
            </a:outerShdw>
          </a:effectLst>
        </p:spPr>
      </p:sp>
      <p:sp>
        <p:nvSpPr>
          <p:cNvPr id="18" name="Shape 16"/>
          <p:cNvSpPr/>
          <p:nvPr/>
        </p:nvSpPr>
        <p:spPr>
          <a:xfrm>
            <a:off x="8412480" y="1188720"/>
            <a:ext cx="54864" cy="685800"/>
          </a:xfrm>
          <a:prstGeom prst="rect">
            <a:avLst/>
          </a:prstGeom>
          <a:solidFill>
            <a:srgbClr val="0D9488"/>
          </a:solidFill>
          <a:ln w="12700">
            <a:solidFill>
              <a:srgbClr val="0D9488"/>
            </a:solidFill>
            <a:prstDash val="solid"/>
          </a:ln>
        </p:spPr>
      </p:sp>
      <p:sp>
        <p:nvSpPr>
          <p:cNvPr id="19" name="Text 17"/>
          <p:cNvSpPr/>
          <p:nvPr/>
        </p:nvSpPr>
        <p:spPr>
          <a:xfrm>
            <a:off x="8522208" y="1188720"/>
            <a:ext cx="2148840" cy="6858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Laboratory</a:t>
            </a:r>
            <a:endParaRPr lang="en-US" sz="1100" dirty="0"/>
          </a:p>
        </p:txBody>
      </p:sp>
      <p:sp>
        <p:nvSpPr>
          <p:cNvPr id="20" name="Shape 18"/>
          <p:cNvSpPr/>
          <p:nvPr/>
        </p:nvSpPr>
        <p:spPr>
          <a:xfrm>
            <a:off x="8412480" y="4114800"/>
            <a:ext cx="2286000" cy="685800"/>
          </a:xfrm>
          <a:prstGeom prst="rect">
            <a:avLst/>
          </a:prstGeom>
          <a:solidFill>
            <a:srgbClr val="FFF7ED"/>
          </a:solidFill>
          <a:ln w="6350">
            <a:solidFill>
              <a:srgbClr val="EA580C"/>
            </a:solidFill>
            <a:prstDash val="solid"/>
          </a:ln>
          <a:effectLst>
            <a:outerShdw sx="100000" sy="100000" kx="0" ky="0" algn="bl" rotWithShape="0" blurRad="76200" dist="25400" dir="8100000">
              <a:srgbClr val="000000">
                <a:alpha val="8000"/>
              </a:srgbClr>
            </a:outerShdw>
          </a:effectLst>
        </p:spPr>
      </p:sp>
      <p:sp>
        <p:nvSpPr>
          <p:cNvPr id="21" name="Shape 19"/>
          <p:cNvSpPr/>
          <p:nvPr/>
        </p:nvSpPr>
        <p:spPr>
          <a:xfrm>
            <a:off x="8412480" y="4114800"/>
            <a:ext cx="54864" cy="685800"/>
          </a:xfrm>
          <a:prstGeom prst="rect">
            <a:avLst/>
          </a:prstGeom>
          <a:solidFill>
            <a:srgbClr val="EA580C"/>
          </a:solidFill>
          <a:ln w="12700">
            <a:solidFill>
              <a:srgbClr val="EA580C"/>
            </a:solidFill>
            <a:prstDash val="solid"/>
          </a:ln>
        </p:spPr>
      </p:sp>
      <p:sp>
        <p:nvSpPr>
          <p:cNvPr id="22" name="Text 20"/>
          <p:cNvSpPr/>
          <p:nvPr/>
        </p:nvSpPr>
        <p:spPr>
          <a:xfrm>
            <a:off x="8522208" y="4114800"/>
            <a:ext cx="2148840" cy="6858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Radiology</a:t>
            </a:r>
            <a:endParaRPr lang="en-US" sz="1100" dirty="0"/>
          </a:p>
        </p:txBody>
      </p:sp>
      <p:sp>
        <p:nvSpPr>
          <p:cNvPr id="23" name="Shape 21"/>
          <p:cNvSpPr/>
          <p:nvPr/>
        </p:nvSpPr>
        <p:spPr>
          <a:xfrm>
            <a:off x="4206240" y="4114800"/>
            <a:ext cx="2286000" cy="685800"/>
          </a:xfrm>
          <a:prstGeom prst="rect">
            <a:avLst/>
          </a:prstGeom>
          <a:solidFill>
            <a:srgbClr val="ECFDF5"/>
          </a:solidFill>
          <a:ln w="6350">
            <a:solidFill>
              <a:srgbClr val="059669"/>
            </a:solidFill>
            <a:prstDash val="solid"/>
          </a:ln>
          <a:effectLst>
            <a:outerShdw sx="100000" sy="100000" kx="0" ky="0" algn="bl" rotWithShape="0" blurRad="76200" dist="25400" dir="8100000">
              <a:srgbClr val="000000">
                <a:alpha val="8000"/>
              </a:srgbClr>
            </a:outerShdw>
          </a:effectLst>
        </p:spPr>
      </p:sp>
      <p:sp>
        <p:nvSpPr>
          <p:cNvPr id="24" name="Shape 22"/>
          <p:cNvSpPr/>
          <p:nvPr/>
        </p:nvSpPr>
        <p:spPr>
          <a:xfrm>
            <a:off x="4206240" y="4114800"/>
            <a:ext cx="54864" cy="685800"/>
          </a:xfrm>
          <a:prstGeom prst="rect">
            <a:avLst/>
          </a:prstGeom>
          <a:solidFill>
            <a:srgbClr val="059669"/>
          </a:solidFill>
          <a:ln w="12700">
            <a:solidFill>
              <a:srgbClr val="059669"/>
            </a:solidFill>
            <a:prstDash val="solid"/>
          </a:ln>
        </p:spPr>
      </p:sp>
      <p:sp>
        <p:nvSpPr>
          <p:cNvPr id="25" name="Text 23"/>
          <p:cNvSpPr/>
          <p:nvPr/>
        </p:nvSpPr>
        <p:spPr>
          <a:xfrm>
            <a:off x="4315968" y="4114800"/>
            <a:ext cx="2148840" cy="685800"/>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Pharmacy</a:t>
            </a:r>
            <a:endParaRPr lang="en-US" sz="1100" dirty="0"/>
          </a:p>
        </p:txBody>
      </p:sp>
      <p:sp>
        <p:nvSpPr>
          <p:cNvPr id="26" name="Shape 24"/>
          <p:cNvSpPr/>
          <p:nvPr/>
        </p:nvSpPr>
        <p:spPr>
          <a:xfrm>
            <a:off x="2834640" y="2907792"/>
            <a:ext cx="1371600" cy="36576"/>
          </a:xfrm>
          <a:prstGeom prst="rect">
            <a:avLst/>
          </a:prstGeom>
          <a:solidFill>
            <a:srgbClr val="1E40AF"/>
          </a:solidFill>
          <a:ln w="12700">
            <a:solidFill>
              <a:srgbClr val="1E40AF"/>
            </a:solidFill>
            <a:prstDash val="solid"/>
          </a:ln>
        </p:spPr>
      </p:sp>
      <p:sp>
        <p:nvSpPr>
          <p:cNvPr id="27" name="Text 25"/>
          <p:cNvSpPr/>
          <p:nvPr/>
        </p:nvSpPr>
        <p:spPr>
          <a:xfrm>
            <a:off x="2743200" y="2706624"/>
            <a:ext cx="1554480" cy="201168"/>
          </a:xfrm>
          <a:prstGeom prst="rect">
            <a:avLst/>
          </a:prstGeom>
          <a:noFill/>
          <a:ln/>
        </p:spPr>
        <p:txBody>
          <a:bodyPr wrap="square" lIns="0" tIns="0" rIns="0" bIns="0" rtlCol="0" anchor="ctr"/>
          <a:lstStyle/>
          <a:p>
            <a:pPr algn="ctr" indent="0" marL="0">
              <a:buNone/>
            </a:pPr>
            <a:r>
              <a:rPr lang="en-US" sz="750" dirty="0">
                <a:solidFill>
                  <a:srgbClr val="1E40AF"/>
                </a:solidFill>
                <a:latin typeface="Calibri" pitchFamily="34" charset="0"/>
                <a:ea typeface="Calibri" pitchFamily="34" charset="-122"/>
                <a:cs typeface="Calibri" pitchFamily="34" charset="-120"/>
              </a:rPr>
              <a:t>CH1 HL7 ADT</a:t>
            </a:r>
            <a:endParaRPr lang="en-US" sz="750" dirty="0"/>
          </a:p>
        </p:txBody>
      </p:sp>
      <p:sp>
        <p:nvSpPr>
          <p:cNvPr id="28" name="Shape 26"/>
          <p:cNvSpPr/>
          <p:nvPr/>
        </p:nvSpPr>
        <p:spPr>
          <a:xfrm>
            <a:off x="6492240" y="1481328"/>
            <a:ext cx="1920240" cy="36576"/>
          </a:xfrm>
          <a:prstGeom prst="rect">
            <a:avLst/>
          </a:prstGeom>
          <a:solidFill>
            <a:srgbClr val="7C3AED"/>
          </a:solidFill>
          <a:ln w="12700">
            <a:solidFill>
              <a:srgbClr val="7C3AED"/>
            </a:solidFill>
            <a:prstDash val="solid"/>
          </a:ln>
        </p:spPr>
      </p:sp>
      <p:sp>
        <p:nvSpPr>
          <p:cNvPr id="29" name="Text 27"/>
          <p:cNvSpPr/>
          <p:nvPr/>
        </p:nvSpPr>
        <p:spPr>
          <a:xfrm>
            <a:off x="6492240" y="1298448"/>
            <a:ext cx="1920240" cy="201168"/>
          </a:xfrm>
          <a:prstGeom prst="rect">
            <a:avLst/>
          </a:prstGeom>
          <a:noFill/>
          <a:ln/>
        </p:spPr>
        <p:txBody>
          <a:bodyPr wrap="square" lIns="0" tIns="0" rIns="0" bIns="0" rtlCol="0" anchor="ctr"/>
          <a:lstStyle/>
          <a:p>
            <a:pPr algn="ctr" indent="0" marL="0">
              <a:buNone/>
            </a:pPr>
            <a:r>
              <a:rPr lang="en-US" sz="750" dirty="0">
                <a:solidFill>
                  <a:srgbClr val="7C3AED"/>
                </a:solidFill>
                <a:latin typeface="Calibri" pitchFamily="34" charset="0"/>
                <a:ea typeface="Calibri" pitchFamily="34" charset="-122"/>
                <a:cs typeface="Calibri" pitchFamily="34" charset="-120"/>
              </a:rPr>
              <a:t>CH2 HL7 ORM</a:t>
            </a:r>
            <a:endParaRPr lang="en-US" sz="750" dirty="0"/>
          </a:p>
        </p:txBody>
      </p:sp>
      <p:sp>
        <p:nvSpPr>
          <p:cNvPr id="30" name="Shape 28"/>
          <p:cNvSpPr/>
          <p:nvPr/>
        </p:nvSpPr>
        <p:spPr>
          <a:xfrm>
            <a:off x="6492240" y="1572768"/>
            <a:ext cx="1920240" cy="36576"/>
          </a:xfrm>
          <a:prstGeom prst="rect">
            <a:avLst/>
          </a:prstGeom>
          <a:solidFill>
            <a:srgbClr val="0D9488"/>
          </a:solidFill>
          <a:ln w="12700">
            <a:solidFill>
              <a:srgbClr val="0D9488"/>
            </a:solidFill>
            <a:prstDash val="solid"/>
          </a:ln>
        </p:spPr>
      </p:sp>
      <p:sp>
        <p:nvSpPr>
          <p:cNvPr id="31" name="Text 29"/>
          <p:cNvSpPr/>
          <p:nvPr/>
        </p:nvSpPr>
        <p:spPr>
          <a:xfrm>
            <a:off x="6492240" y="1609344"/>
            <a:ext cx="1920240" cy="201168"/>
          </a:xfrm>
          <a:prstGeom prst="rect">
            <a:avLst/>
          </a:prstGeom>
          <a:noFill/>
          <a:ln/>
        </p:spPr>
        <p:txBody>
          <a:bodyPr wrap="square" lIns="0" tIns="0" rIns="0" bIns="0" rtlCol="0" anchor="ctr"/>
          <a:lstStyle/>
          <a:p>
            <a:pPr algn="ctr" indent="0" marL="0">
              <a:buNone/>
            </a:pPr>
            <a:r>
              <a:rPr lang="en-US" sz="750" dirty="0">
                <a:solidFill>
                  <a:srgbClr val="0D9488"/>
                </a:solidFill>
                <a:latin typeface="Calibri" pitchFamily="34" charset="0"/>
                <a:ea typeface="Calibri" pitchFamily="34" charset="-122"/>
                <a:cs typeface="Calibri" pitchFamily="34" charset="-120"/>
              </a:rPr>
              <a:t>CH3 HL7 ORU</a:t>
            </a:r>
            <a:endParaRPr lang="en-US" sz="750" dirty="0"/>
          </a:p>
        </p:txBody>
      </p:sp>
      <p:sp>
        <p:nvSpPr>
          <p:cNvPr id="32" name="Shape 30"/>
          <p:cNvSpPr/>
          <p:nvPr/>
        </p:nvSpPr>
        <p:spPr>
          <a:xfrm>
            <a:off x="6492240" y="4407408"/>
            <a:ext cx="1920240" cy="36576"/>
          </a:xfrm>
          <a:prstGeom prst="rect">
            <a:avLst/>
          </a:prstGeom>
          <a:solidFill>
            <a:srgbClr val="EA580C"/>
          </a:solidFill>
          <a:ln w="12700">
            <a:solidFill>
              <a:srgbClr val="EA580C"/>
            </a:solidFill>
            <a:prstDash val="solid"/>
          </a:ln>
        </p:spPr>
      </p:sp>
      <p:sp>
        <p:nvSpPr>
          <p:cNvPr id="33" name="Text 31"/>
          <p:cNvSpPr/>
          <p:nvPr/>
        </p:nvSpPr>
        <p:spPr>
          <a:xfrm>
            <a:off x="6492240" y="4224528"/>
            <a:ext cx="1920240" cy="201168"/>
          </a:xfrm>
          <a:prstGeom prst="rect">
            <a:avLst/>
          </a:prstGeom>
          <a:noFill/>
          <a:ln/>
        </p:spPr>
        <p:txBody>
          <a:bodyPr wrap="square" lIns="0" tIns="0" rIns="0" bIns="0" rtlCol="0" anchor="ctr"/>
          <a:lstStyle/>
          <a:p>
            <a:pPr algn="ctr" indent="0" marL="0">
              <a:buNone/>
            </a:pPr>
            <a:r>
              <a:rPr lang="en-US" sz="750" dirty="0">
                <a:solidFill>
                  <a:srgbClr val="EA580C"/>
                </a:solidFill>
                <a:latin typeface="Calibri" pitchFamily="34" charset="0"/>
                <a:ea typeface="Calibri" pitchFamily="34" charset="-122"/>
                <a:cs typeface="Calibri" pitchFamily="34" charset="-120"/>
              </a:rPr>
              <a:t>CH4 DICOM</a:t>
            </a:r>
            <a:endParaRPr lang="en-US" sz="750" dirty="0"/>
          </a:p>
        </p:txBody>
      </p:sp>
      <p:sp>
        <p:nvSpPr>
          <p:cNvPr id="34" name="Shape 32"/>
          <p:cNvSpPr/>
          <p:nvPr/>
        </p:nvSpPr>
        <p:spPr>
          <a:xfrm>
            <a:off x="4846320" y="4407408"/>
            <a:ext cx="1463040" cy="36576"/>
          </a:xfrm>
          <a:prstGeom prst="rect">
            <a:avLst/>
          </a:prstGeom>
          <a:solidFill>
            <a:srgbClr val="059669"/>
          </a:solidFill>
          <a:ln w="12700">
            <a:solidFill>
              <a:srgbClr val="059669"/>
            </a:solidFill>
            <a:prstDash val="solid"/>
          </a:ln>
        </p:spPr>
      </p:sp>
      <p:sp>
        <p:nvSpPr>
          <p:cNvPr id="35" name="Text 33"/>
          <p:cNvSpPr/>
          <p:nvPr/>
        </p:nvSpPr>
        <p:spPr>
          <a:xfrm>
            <a:off x="4846320" y="4224528"/>
            <a:ext cx="1463040" cy="201168"/>
          </a:xfrm>
          <a:prstGeom prst="rect">
            <a:avLst/>
          </a:prstGeom>
          <a:noFill/>
          <a:ln/>
        </p:spPr>
        <p:txBody>
          <a:bodyPr wrap="square" lIns="0" tIns="0" rIns="0" bIns="0" rtlCol="0" anchor="ctr"/>
          <a:lstStyle/>
          <a:p>
            <a:pPr algn="ctr" indent="0" marL="0">
              <a:buNone/>
            </a:pPr>
            <a:r>
              <a:rPr lang="en-US" sz="750" dirty="0">
                <a:solidFill>
                  <a:srgbClr val="059669"/>
                </a:solidFill>
                <a:latin typeface="Calibri" pitchFamily="34" charset="0"/>
                <a:ea typeface="Calibri" pitchFamily="34" charset="-122"/>
                <a:cs typeface="Calibri" pitchFamily="34" charset="-120"/>
              </a:rPr>
              <a:t>CH5 FHIR R4</a:t>
            </a:r>
            <a:endParaRPr lang="en-US" sz="750" dirty="0"/>
          </a:p>
        </p:txBody>
      </p:sp>
      <p:sp>
        <p:nvSpPr>
          <p:cNvPr id="36" name="Shape 34"/>
          <p:cNvSpPr/>
          <p:nvPr/>
        </p:nvSpPr>
        <p:spPr>
          <a:xfrm>
            <a:off x="365760" y="5577840"/>
            <a:ext cx="2148840" cy="822960"/>
          </a:xfrm>
          <a:prstGeom prst="rect">
            <a:avLst/>
          </a:prstGeom>
          <a:solidFill>
            <a:srgbClr val="0F172A"/>
          </a:solidFill>
          <a:ln w="6350">
            <a:solidFill>
              <a:srgbClr val="1E3A8A"/>
            </a:solidFill>
            <a:prstDash val="solid"/>
          </a:ln>
          <a:effectLst>
            <a:outerShdw sx="100000" sy="100000" kx="0" ky="0" algn="bl" rotWithShape="0" blurRad="76200" dist="25400" dir="8100000">
              <a:srgbClr val="000000">
                <a:alpha val="8000"/>
              </a:srgbClr>
            </a:outerShdw>
          </a:effectLst>
        </p:spPr>
      </p:sp>
      <p:sp>
        <p:nvSpPr>
          <p:cNvPr id="37" name="Text 35"/>
          <p:cNvSpPr/>
          <p:nvPr/>
        </p:nvSpPr>
        <p:spPr>
          <a:xfrm>
            <a:off x="365760" y="5577840"/>
            <a:ext cx="640080" cy="82296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5</a:t>
            </a:r>
            <a:endParaRPr lang="en-US" sz="2800" dirty="0"/>
          </a:p>
        </p:txBody>
      </p:sp>
      <p:sp>
        <p:nvSpPr>
          <p:cNvPr id="38" name="Text 36"/>
          <p:cNvSpPr/>
          <p:nvPr/>
        </p:nvSpPr>
        <p:spPr>
          <a:xfrm>
            <a:off x="1005840" y="5669280"/>
            <a:ext cx="1417320" cy="64008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Healthcare</a:t>
            </a:r>
            <a:endParaRPr lang="en-US" sz="900" dirty="0"/>
          </a:p>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Providers</a:t>
            </a:r>
            <a:endParaRPr lang="en-US" sz="900" dirty="0"/>
          </a:p>
        </p:txBody>
      </p:sp>
      <p:sp>
        <p:nvSpPr>
          <p:cNvPr id="39" name="Shape 37"/>
          <p:cNvSpPr/>
          <p:nvPr/>
        </p:nvSpPr>
        <p:spPr>
          <a:xfrm>
            <a:off x="2651760" y="5577840"/>
            <a:ext cx="2148840" cy="822960"/>
          </a:xfrm>
          <a:prstGeom prst="rect">
            <a:avLst/>
          </a:prstGeom>
          <a:solidFill>
            <a:srgbClr val="0F172A"/>
          </a:solidFill>
          <a:ln w="6350">
            <a:solidFill>
              <a:srgbClr val="1E3A8A"/>
            </a:solidFill>
            <a:prstDash val="solid"/>
          </a:ln>
          <a:effectLst>
            <a:outerShdw sx="100000" sy="100000" kx="0" ky="0" algn="bl" rotWithShape="0" blurRad="76200" dist="25400" dir="8100000">
              <a:srgbClr val="000000">
                <a:alpha val="8000"/>
              </a:srgbClr>
            </a:outerShdw>
          </a:effectLst>
        </p:spPr>
      </p:sp>
      <p:sp>
        <p:nvSpPr>
          <p:cNvPr id="40" name="Text 38"/>
          <p:cNvSpPr/>
          <p:nvPr/>
        </p:nvSpPr>
        <p:spPr>
          <a:xfrm>
            <a:off x="2651760" y="5577840"/>
            <a:ext cx="640080" cy="82296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5</a:t>
            </a:r>
            <a:endParaRPr lang="en-US" sz="2800" dirty="0"/>
          </a:p>
        </p:txBody>
      </p:sp>
      <p:sp>
        <p:nvSpPr>
          <p:cNvPr id="41" name="Text 39"/>
          <p:cNvSpPr/>
          <p:nvPr/>
        </p:nvSpPr>
        <p:spPr>
          <a:xfrm>
            <a:off x="3291840" y="5669280"/>
            <a:ext cx="1417320" cy="64008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Integration</a:t>
            </a:r>
            <a:endParaRPr lang="en-US" sz="900" dirty="0"/>
          </a:p>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Channels</a:t>
            </a:r>
            <a:endParaRPr lang="en-US" sz="900" dirty="0"/>
          </a:p>
        </p:txBody>
      </p:sp>
      <p:sp>
        <p:nvSpPr>
          <p:cNvPr id="42" name="Shape 40"/>
          <p:cNvSpPr/>
          <p:nvPr/>
        </p:nvSpPr>
        <p:spPr>
          <a:xfrm>
            <a:off x="4937760" y="5577840"/>
            <a:ext cx="2148840" cy="822960"/>
          </a:xfrm>
          <a:prstGeom prst="rect">
            <a:avLst/>
          </a:prstGeom>
          <a:solidFill>
            <a:srgbClr val="0F172A"/>
          </a:solidFill>
          <a:ln w="6350">
            <a:solidFill>
              <a:srgbClr val="1E3A8A"/>
            </a:solidFill>
            <a:prstDash val="solid"/>
          </a:ln>
          <a:effectLst>
            <a:outerShdw sx="100000" sy="100000" kx="0" ky="0" algn="bl" rotWithShape="0" blurRad="76200" dist="25400" dir="8100000">
              <a:srgbClr val="000000">
                <a:alpha val="8000"/>
              </a:srgbClr>
            </a:outerShdw>
          </a:effectLst>
        </p:spPr>
      </p:sp>
      <p:sp>
        <p:nvSpPr>
          <p:cNvPr id="43" name="Text 41"/>
          <p:cNvSpPr/>
          <p:nvPr/>
        </p:nvSpPr>
        <p:spPr>
          <a:xfrm>
            <a:off x="4937760" y="5577840"/>
            <a:ext cx="640080" cy="82296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6</a:t>
            </a:r>
            <a:endParaRPr lang="en-US" sz="2800" dirty="0"/>
          </a:p>
        </p:txBody>
      </p:sp>
      <p:sp>
        <p:nvSpPr>
          <p:cNvPr id="44" name="Text 42"/>
          <p:cNvSpPr/>
          <p:nvPr/>
        </p:nvSpPr>
        <p:spPr>
          <a:xfrm>
            <a:off x="5577840" y="5669280"/>
            <a:ext cx="1417320" cy="64008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Simulated</a:t>
            </a:r>
            <a:endParaRPr lang="en-US" sz="900" dirty="0"/>
          </a:p>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Patients</a:t>
            </a:r>
            <a:endParaRPr lang="en-US" sz="900" dirty="0"/>
          </a:p>
        </p:txBody>
      </p:sp>
      <p:sp>
        <p:nvSpPr>
          <p:cNvPr id="45" name="Shape 43"/>
          <p:cNvSpPr/>
          <p:nvPr/>
        </p:nvSpPr>
        <p:spPr>
          <a:xfrm>
            <a:off x="7223760" y="5577840"/>
            <a:ext cx="2148840" cy="822960"/>
          </a:xfrm>
          <a:prstGeom prst="rect">
            <a:avLst/>
          </a:prstGeom>
          <a:solidFill>
            <a:srgbClr val="0F172A"/>
          </a:solidFill>
          <a:ln w="6350">
            <a:solidFill>
              <a:srgbClr val="1E3A8A"/>
            </a:solidFill>
            <a:prstDash val="solid"/>
          </a:ln>
          <a:effectLst>
            <a:outerShdw sx="100000" sy="100000" kx="0" ky="0" algn="bl" rotWithShape="0" blurRad="76200" dist="25400" dir="8100000">
              <a:srgbClr val="000000">
                <a:alpha val="8000"/>
              </a:srgbClr>
            </a:outerShdw>
          </a:effectLst>
        </p:spPr>
      </p:sp>
      <p:sp>
        <p:nvSpPr>
          <p:cNvPr id="46" name="Text 44"/>
          <p:cNvSpPr/>
          <p:nvPr/>
        </p:nvSpPr>
        <p:spPr>
          <a:xfrm>
            <a:off x="7223760" y="5577840"/>
            <a:ext cx="640080" cy="82296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4</a:t>
            </a:r>
            <a:endParaRPr lang="en-US" sz="2800" dirty="0"/>
          </a:p>
        </p:txBody>
      </p:sp>
      <p:sp>
        <p:nvSpPr>
          <p:cNvPr id="47" name="Text 45"/>
          <p:cNvSpPr/>
          <p:nvPr/>
        </p:nvSpPr>
        <p:spPr>
          <a:xfrm>
            <a:off x="7863840" y="5669280"/>
            <a:ext cx="1417320" cy="64008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Standards</a:t>
            </a:r>
            <a:endParaRPr lang="en-US" sz="900" dirty="0"/>
          </a:p>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Used</a:t>
            </a:r>
            <a:endParaRPr lang="en-US" sz="900" dirty="0"/>
          </a:p>
        </p:txBody>
      </p:sp>
      <p:sp>
        <p:nvSpPr>
          <p:cNvPr id="48" name="Shape 46"/>
          <p:cNvSpPr/>
          <p:nvPr/>
        </p:nvSpPr>
        <p:spPr>
          <a:xfrm>
            <a:off x="9509760" y="5577840"/>
            <a:ext cx="2148840" cy="822960"/>
          </a:xfrm>
          <a:prstGeom prst="rect">
            <a:avLst/>
          </a:prstGeom>
          <a:solidFill>
            <a:srgbClr val="0F172A"/>
          </a:solidFill>
          <a:ln w="6350">
            <a:solidFill>
              <a:srgbClr val="1E3A8A"/>
            </a:solidFill>
            <a:prstDash val="solid"/>
          </a:ln>
          <a:effectLst>
            <a:outerShdw sx="100000" sy="100000" kx="0" ky="0" algn="bl" rotWithShape="0" blurRad="76200" dist="25400" dir="8100000">
              <a:srgbClr val="000000">
                <a:alpha val="8000"/>
              </a:srgbClr>
            </a:outerShdw>
          </a:effectLst>
        </p:spPr>
      </p:sp>
      <p:sp>
        <p:nvSpPr>
          <p:cNvPr id="49" name="Text 47"/>
          <p:cNvSpPr/>
          <p:nvPr/>
        </p:nvSpPr>
        <p:spPr>
          <a:xfrm>
            <a:off x="9509760" y="5577840"/>
            <a:ext cx="640080" cy="82296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5</a:t>
            </a:r>
            <a:endParaRPr lang="en-US" sz="2800" dirty="0"/>
          </a:p>
        </p:txBody>
      </p:sp>
      <p:sp>
        <p:nvSpPr>
          <p:cNvPr id="50" name="Text 48"/>
          <p:cNvSpPr/>
          <p:nvPr/>
        </p:nvSpPr>
        <p:spPr>
          <a:xfrm>
            <a:off x="10149840" y="5669280"/>
            <a:ext cx="1417320" cy="64008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SQLite</a:t>
            </a:r>
            <a:endParaRPr lang="en-US" sz="900" dirty="0"/>
          </a:p>
          <a:p>
            <a:pPr indent="0" marL="0">
              <a:lnSpc>
                <a:spcPct val="130000"/>
              </a:lnSpc>
              <a:buNone/>
            </a:pPr>
            <a:r>
              <a:rPr lang="en-US" sz="900" dirty="0">
                <a:solidFill>
                  <a:srgbClr val="94A3B8"/>
                </a:solidFill>
                <a:latin typeface="Calibri" pitchFamily="34" charset="0"/>
                <a:ea typeface="Calibri" pitchFamily="34" charset="-122"/>
                <a:cs typeface="Calibri" pitchFamily="34" charset="-120"/>
              </a:rPr>
              <a:t>Databases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0D9488"/>
          </a:solidFill>
          <a:ln w="12700">
            <a:solidFill>
              <a:srgbClr val="0D9488"/>
            </a:solidFill>
            <a:prstDash val="solid"/>
          </a:ln>
        </p:spPr>
      </p:sp>
      <p:sp>
        <p:nvSpPr>
          <p:cNvPr id="3" name="Text 1"/>
          <p:cNvSpPr/>
          <p:nvPr/>
        </p:nvSpPr>
        <p:spPr>
          <a:xfrm>
            <a:off x="548640" y="1097280"/>
            <a:ext cx="11064240" cy="640080"/>
          </a:xfrm>
          <a:prstGeom prst="rect">
            <a:avLst/>
          </a:prstGeom>
          <a:noFill/>
          <a:ln/>
        </p:spPr>
        <p:txBody>
          <a:bodyPr wrap="square" lIns="0" tIns="0" rIns="0" bIns="0" rtlCol="0" anchor="ctr"/>
          <a:lstStyle/>
          <a:p>
            <a:pPr indent="0" marL="0">
              <a:buNone/>
            </a:pPr>
            <a:r>
              <a:rPr lang="en-US" sz="4800" b="1" spc="800" kern="0" dirty="0">
                <a:solidFill>
                  <a:srgbClr val="FFFFFF"/>
                </a:solidFill>
                <a:latin typeface="Calibri" pitchFamily="34" charset="0"/>
                <a:ea typeface="Calibri" pitchFamily="34" charset="-122"/>
                <a:cs typeface="Calibri" pitchFamily="34" charset="-120"/>
              </a:rPr>
              <a:t>LIVE DEMO</a:t>
            </a:r>
            <a:endParaRPr lang="en-US" sz="4800" dirty="0"/>
          </a:p>
        </p:txBody>
      </p:sp>
      <p:sp>
        <p:nvSpPr>
          <p:cNvPr id="4" name="Text 2"/>
          <p:cNvSpPr/>
          <p:nvPr/>
        </p:nvSpPr>
        <p:spPr>
          <a:xfrm>
            <a:off x="548640" y="1737360"/>
            <a:ext cx="11064240" cy="41148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Health Interoperability Demo Application</a:t>
            </a:r>
            <a:endParaRPr lang="en-US" sz="1800" dirty="0"/>
          </a:p>
        </p:txBody>
      </p:sp>
      <p:sp>
        <p:nvSpPr>
          <p:cNvPr id="5" name="Shape 3"/>
          <p:cNvSpPr/>
          <p:nvPr/>
        </p:nvSpPr>
        <p:spPr>
          <a:xfrm>
            <a:off x="548640" y="2286000"/>
            <a:ext cx="3200400" cy="36576"/>
          </a:xfrm>
          <a:prstGeom prst="rect">
            <a:avLst/>
          </a:prstGeom>
          <a:solidFill>
            <a:srgbClr val="0D9488"/>
          </a:solidFill>
          <a:ln w="12700">
            <a:solidFill>
              <a:srgbClr val="0D9488"/>
            </a:solidFill>
            <a:prstDash val="solid"/>
          </a:ln>
        </p:spPr>
      </p:sp>
      <p:sp>
        <p:nvSpPr>
          <p:cNvPr id="6" name="Shape 4"/>
          <p:cNvSpPr/>
          <p:nvPr/>
        </p:nvSpPr>
        <p:spPr>
          <a:xfrm>
            <a:off x="548640" y="2514600"/>
            <a:ext cx="5303520" cy="96012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7" name="Shape 5"/>
          <p:cNvSpPr/>
          <p:nvPr/>
        </p:nvSpPr>
        <p:spPr>
          <a:xfrm>
            <a:off x="685800" y="2825496"/>
            <a:ext cx="329184" cy="329184"/>
          </a:xfrm>
          <a:prstGeom prst="ellipse">
            <a:avLst/>
          </a:prstGeom>
          <a:solidFill>
            <a:srgbClr val="0D9488"/>
          </a:solidFill>
          <a:ln w="12700">
            <a:solidFill>
              <a:srgbClr val="0D9488"/>
            </a:solidFill>
            <a:prstDash val="solid"/>
          </a:ln>
        </p:spPr>
      </p:sp>
      <p:sp>
        <p:nvSpPr>
          <p:cNvPr id="8" name="Text 6"/>
          <p:cNvSpPr/>
          <p:nvPr/>
        </p:nvSpPr>
        <p:spPr>
          <a:xfrm>
            <a:off x="685800" y="282549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115568" y="260604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Open the dashboard</a:t>
            </a:r>
            <a:endParaRPr lang="en-US" sz="1100" dirty="0"/>
          </a:p>
        </p:txBody>
      </p:sp>
      <p:sp>
        <p:nvSpPr>
          <p:cNvPr id="10" name="Text 8"/>
          <p:cNvSpPr/>
          <p:nvPr/>
        </p:nvSpPr>
        <p:spPr>
          <a:xfrm>
            <a:off x="1115568" y="2898648"/>
            <a:ext cx="4572000" cy="4754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localhost:5000 — all 6 patients listed</a:t>
            </a:r>
            <a:endParaRPr lang="en-US" sz="950" dirty="0"/>
          </a:p>
        </p:txBody>
      </p:sp>
      <p:sp>
        <p:nvSpPr>
          <p:cNvPr id="11" name="Shape 9"/>
          <p:cNvSpPr/>
          <p:nvPr/>
        </p:nvSpPr>
        <p:spPr>
          <a:xfrm>
            <a:off x="6126480" y="2514600"/>
            <a:ext cx="5303520" cy="96012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12" name="Shape 10"/>
          <p:cNvSpPr/>
          <p:nvPr/>
        </p:nvSpPr>
        <p:spPr>
          <a:xfrm>
            <a:off x="6263640" y="2825496"/>
            <a:ext cx="329184" cy="329184"/>
          </a:xfrm>
          <a:prstGeom prst="ellipse">
            <a:avLst/>
          </a:prstGeom>
          <a:solidFill>
            <a:srgbClr val="0D9488"/>
          </a:solidFill>
          <a:ln w="12700">
            <a:solidFill>
              <a:srgbClr val="0D9488"/>
            </a:solidFill>
            <a:prstDash val="solid"/>
          </a:ln>
        </p:spPr>
      </p:sp>
      <p:sp>
        <p:nvSpPr>
          <p:cNvPr id="13" name="Text 11"/>
          <p:cNvSpPr/>
          <p:nvPr/>
        </p:nvSpPr>
        <p:spPr>
          <a:xfrm>
            <a:off x="6263640" y="282549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6693408" y="260604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Select Fadi Halaweh</a:t>
            </a:r>
            <a:endParaRPr lang="en-US" sz="1100" dirty="0"/>
          </a:p>
        </p:txBody>
      </p:sp>
      <p:sp>
        <p:nvSpPr>
          <p:cNvPr id="15" name="Text 13"/>
          <p:cNvSpPr/>
          <p:nvPr/>
        </p:nvSpPr>
        <p:spPr>
          <a:xfrm>
            <a:off x="6693408" y="2898648"/>
            <a:ext cx="4572000" cy="4754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View his GP record (local code CP-05)</a:t>
            </a:r>
            <a:endParaRPr lang="en-US" sz="950" dirty="0"/>
          </a:p>
        </p:txBody>
      </p:sp>
      <p:sp>
        <p:nvSpPr>
          <p:cNvPr id="16" name="Shape 14"/>
          <p:cNvSpPr/>
          <p:nvPr/>
        </p:nvSpPr>
        <p:spPr>
          <a:xfrm>
            <a:off x="548640" y="3611880"/>
            <a:ext cx="5303520" cy="96012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17" name="Shape 15"/>
          <p:cNvSpPr/>
          <p:nvPr/>
        </p:nvSpPr>
        <p:spPr>
          <a:xfrm>
            <a:off x="685800" y="3922776"/>
            <a:ext cx="329184" cy="329184"/>
          </a:xfrm>
          <a:prstGeom prst="ellipse">
            <a:avLst/>
          </a:prstGeom>
          <a:solidFill>
            <a:srgbClr val="0D9488"/>
          </a:solidFill>
          <a:ln w="12700">
            <a:solidFill>
              <a:srgbClr val="0D9488"/>
            </a:solidFill>
            <a:prstDash val="solid"/>
          </a:ln>
        </p:spPr>
      </p:sp>
      <p:sp>
        <p:nvSpPr>
          <p:cNvPr id="18" name="Text 16"/>
          <p:cNvSpPr/>
          <p:nvPr/>
        </p:nvSpPr>
        <p:spPr>
          <a:xfrm>
            <a:off x="685800" y="392277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p:nvPr/>
        </p:nvSpPr>
        <p:spPr>
          <a:xfrm>
            <a:off x="1115568" y="370332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Channel 1: Send to Hospital ED</a:t>
            </a:r>
            <a:endParaRPr lang="en-US" sz="1100" dirty="0"/>
          </a:p>
        </p:txBody>
      </p:sp>
      <p:sp>
        <p:nvSpPr>
          <p:cNvPr id="20" name="Text 18"/>
          <p:cNvSpPr/>
          <p:nvPr/>
        </p:nvSpPr>
        <p:spPr>
          <a:xfrm>
            <a:off x="1115568" y="3995928"/>
            <a:ext cx="4572000" cy="4754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Watch CP-05 → ICD-10 I21.9 in HL7 ADT^A01</a:t>
            </a:r>
            <a:endParaRPr lang="en-US" sz="950" dirty="0"/>
          </a:p>
        </p:txBody>
      </p:sp>
      <p:sp>
        <p:nvSpPr>
          <p:cNvPr id="21" name="Shape 19"/>
          <p:cNvSpPr/>
          <p:nvPr/>
        </p:nvSpPr>
        <p:spPr>
          <a:xfrm>
            <a:off x="6126480" y="3611880"/>
            <a:ext cx="5303520" cy="96012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22" name="Shape 20"/>
          <p:cNvSpPr/>
          <p:nvPr/>
        </p:nvSpPr>
        <p:spPr>
          <a:xfrm>
            <a:off x="6263640" y="3922776"/>
            <a:ext cx="329184" cy="329184"/>
          </a:xfrm>
          <a:prstGeom prst="ellipse">
            <a:avLst/>
          </a:prstGeom>
          <a:solidFill>
            <a:srgbClr val="0D9488"/>
          </a:solidFill>
          <a:ln w="12700">
            <a:solidFill>
              <a:srgbClr val="0D9488"/>
            </a:solidFill>
            <a:prstDash val="solid"/>
          </a:ln>
        </p:spPr>
      </p:sp>
      <p:sp>
        <p:nvSpPr>
          <p:cNvPr id="23" name="Text 21"/>
          <p:cNvSpPr/>
          <p:nvPr/>
        </p:nvSpPr>
        <p:spPr>
          <a:xfrm>
            <a:off x="6263640" y="392277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4" name="Text 22"/>
          <p:cNvSpPr/>
          <p:nvPr/>
        </p:nvSpPr>
        <p:spPr>
          <a:xfrm>
            <a:off x="6693408" y="370332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Channel 2: Order Lab Tests</a:t>
            </a:r>
            <a:endParaRPr lang="en-US" sz="1100" dirty="0"/>
          </a:p>
        </p:txBody>
      </p:sp>
      <p:sp>
        <p:nvSpPr>
          <p:cNvPr id="25" name="Text 23"/>
          <p:cNvSpPr/>
          <p:nvPr/>
        </p:nvSpPr>
        <p:spPr>
          <a:xfrm>
            <a:off x="6693408" y="3995928"/>
            <a:ext cx="4572000" cy="4754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Troponin I → LOINC 10839-9 in HL7 ORM^O01</a:t>
            </a:r>
            <a:endParaRPr lang="en-US" sz="950" dirty="0"/>
          </a:p>
        </p:txBody>
      </p:sp>
      <p:sp>
        <p:nvSpPr>
          <p:cNvPr id="26" name="Shape 24"/>
          <p:cNvSpPr/>
          <p:nvPr/>
        </p:nvSpPr>
        <p:spPr>
          <a:xfrm>
            <a:off x="548640" y="4709160"/>
            <a:ext cx="5303520" cy="96012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27" name="Shape 25"/>
          <p:cNvSpPr/>
          <p:nvPr/>
        </p:nvSpPr>
        <p:spPr>
          <a:xfrm>
            <a:off x="685800" y="5020056"/>
            <a:ext cx="329184" cy="329184"/>
          </a:xfrm>
          <a:prstGeom prst="ellipse">
            <a:avLst/>
          </a:prstGeom>
          <a:solidFill>
            <a:srgbClr val="0D9488"/>
          </a:solidFill>
          <a:ln w="12700">
            <a:solidFill>
              <a:srgbClr val="0D9488"/>
            </a:solidFill>
            <a:prstDash val="solid"/>
          </a:ln>
        </p:spPr>
      </p:sp>
      <p:sp>
        <p:nvSpPr>
          <p:cNvPr id="28" name="Text 26"/>
          <p:cNvSpPr/>
          <p:nvPr/>
        </p:nvSpPr>
        <p:spPr>
          <a:xfrm>
            <a:off x="685800" y="502005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9" name="Text 27"/>
          <p:cNvSpPr/>
          <p:nvPr/>
        </p:nvSpPr>
        <p:spPr>
          <a:xfrm>
            <a:off x="1115568" y="480060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Channel 3: Receive Lab Results</a:t>
            </a:r>
            <a:endParaRPr lang="en-US" sz="1100" dirty="0"/>
          </a:p>
        </p:txBody>
      </p:sp>
      <p:sp>
        <p:nvSpPr>
          <p:cNvPr id="30" name="Text 28"/>
          <p:cNvSpPr/>
          <p:nvPr/>
        </p:nvSpPr>
        <p:spPr>
          <a:xfrm>
            <a:off x="1115568" y="5093208"/>
            <a:ext cx="4572000" cy="4754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Result 0.08 ng/mL → SNOMED 414916001 in ORU^R01</a:t>
            </a:r>
            <a:endParaRPr lang="en-US" sz="950" dirty="0"/>
          </a:p>
        </p:txBody>
      </p:sp>
      <p:sp>
        <p:nvSpPr>
          <p:cNvPr id="31" name="Shape 29"/>
          <p:cNvSpPr/>
          <p:nvPr/>
        </p:nvSpPr>
        <p:spPr>
          <a:xfrm>
            <a:off x="6126480" y="4709160"/>
            <a:ext cx="5303520" cy="960120"/>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32" name="Shape 30"/>
          <p:cNvSpPr/>
          <p:nvPr/>
        </p:nvSpPr>
        <p:spPr>
          <a:xfrm>
            <a:off x="6263640" y="5020056"/>
            <a:ext cx="329184" cy="329184"/>
          </a:xfrm>
          <a:prstGeom prst="ellipse">
            <a:avLst/>
          </a:prstGeom>
          <a:solidFill>
            <a:srgbClr val="0D9488"/>
          </a:solidFill>
          <a:ln w="12700">
            <a:solidFill>
              <a:srgbClr val="0D9488"/>
            </a:solidFill>
            <a:prstDash val="solid"/>
          </a:ln>
        </p:spPr>
      </p:sp>
      <p:sp>
        <p:nvSpPr>
          <p:cNvPr id="33" name="Text 31"/>
          <p:cNvSpPr/>
          <p:nvPr/>
        </p:nvSpPr>
        <p:spPr>
          <a:xfrm>
            <a:off x="6263640" y="5020056"/>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4" name="Text 32"/>
          <p:cNvSpPr/>
          <p:nvPr/>
        </p:nvSpPr>
        <p:spPr>
          <a:xfrm>
            <a:off x="6693408" y="480060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Channels 4 &amp; 5</a:t>
            </a:r>
            <a:endParaRPr lang="en-US" sz="1100" dirty="0"/>
          </a:p>
        </p:txBody>
      </p:sp>
      <p:sp>
        <p:nvSpPr>
          <p:cNvPr id="35" name="Text 33"/>
          <p:cNvSpPr/>
          <p:nvPr/>
        </p:nvSpPr>
        <p:spPr>
          <a:xfrm>
            <a:off x="6693408" y="5093208"/>
            <a:ext cx="4572000" cy="4754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DICOM imaging request + FHIR R4 MedicationRequest</a:t>
            </a:r>
            <a:endParaRPr lang="en-US" sz="950" dirty="0"/>
          </a:p>
        </p:txBody>
      </p:sp>
      <p:sp>
        <p:nvSpPr>
          <p:cNvPr id="36" name="Shape 34"/>
          <p:cNvSpPr/>
          <p:nvPr/>
        </p:nvSpPr>
        <p:spPr>
          <a:xfrm>
            <a:off x="0" y="6537960"/>
            <a:ext cx="12161520" cy="320040"/>
          </a:xfrm>
          <a:prstGeom prst="rect">
            <a:avLst/>
          </a:prstGeom>
          <a:solidFill>
            <a:srgbClr val="1E293B"/>
          </a:solidFill>
          <a:ln w="12700">
            <a:solidFill>
              <a:srgbClr val="1E293B"/>
            </a:solidFill>
            <a:prstDash val="solid"/>
          </a:ln>
        </p:spPr>
      </p:sp>
      <p:sp>
        <p:nvSpPr>
          <p:cNvPr id="37" name="Text 35"/>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COMP3342 — Health Systems Interoperability &amp; Integration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1E40AF"/>
          </a:solidFill>
          <a:ln w="12700">
            <a:solidFill>
              <a:srgbClr val="1E40AF"/>
            </a:solidFill>
            <a:prstDash val="solid"/>
          </a:ln>
        </p:spPr>
      </p:sp>
      <p:sp>
        <p:nvSpPr>
          <p:cNvPr id="3" name="Text 1"/>
          <p:cNvSpPr/>
          <p:nvPr/>
        </p:nvSpPr>
        <p:spPr>
          <a:xfrm>
            <a:off x="548640" y="502920"/>
            <a:ext cx="11064240" cy="59436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Conclusion</a:t>
            </a:r>
            <a:endParaRPr lang="en-US" sz="3600" dirty="0"/>
          </a:p>
        </p:txBody>
      </p:sp>
      <p:sp>
        <p:nvSpPr>
          <p:cNvPr id="4" name="Shape 2"/>
          <p:cNvSpPr/>
          <p:nvPr/>
        </p:nvSpPr>
        <p:spPr>
          <a:xfrm>
            <a:off x="548640" y="1188720"/>
            <a:ext cx="2743200" cy="36576"/>
          </a:xfrm>
          <a:prstGeom prst="rect">
            <a:avLst/>
          </a:prstGeom>
          <a:solidFill>
            <a:srgbClr val="3B82F6"/>
          </a:solidFill>
          <a:ln w="12700">
            <a:solidFill>
              <a:srgbClr val="3B82F6"/>
            </a:solidFill>
            <a:prstDash val="solid"/>
          </a:ln>
        </p:spPr>
      </p:sp>
      <p:sp>
        <p:nvSpPr>
          <p:cNvPr id="5" name="Shape 3"/>
          <p:cNvSpPr/>
          <p:nvPr/>
        </p:nvSpPr>
        <p:spPr>
          <a:xfrm>
            <a:off x="548640" y="1389888"/>
            <a:ext cx="11064240" cy="713232"/>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6" name="Shape 4"/>
          <p:cNvSpPr/>
          <p:nvPr/>
        </p:nvSpPr>
        <p:spPr>
          <a:xfrm>
            <a:off x="548640" y="1389888"/>
            <a:ext cx="45720" cy="713232"/>
          </a:xfrm>
          <a:prstGeom prst="rect">
            <a:avLst/>
          </a:prstGeom>
          <a:solidFill>
            <a:srgbClr val="3B82F6"/>
          </a:solidFill>
          <a:ln w="12700">
            <a:solidFill>
              <a:srgbClr val="3B82F6"/>
            </a:solidFill>
            <a:prstDash val="solid"/>
          </a:ln>
        </p:spPr>
      </p:sp>
      <p:sp>
        <p:nvSpPr>
          <p:cNvPr id="7" name="Text 5"/>
          <p:cNvSpPr/>
          <p:nvPr/>
        </p:nvSpPr>
        <p:spPr>
          <a:xfrm>
            <a:off x="749808" y="1426464"/>
            <a:ext cx="10744200" cy="640080"/>
          </a:xfrm>
          <a:prstGeom prst="rect">
            <a:avLst/>
          </a:prstGeom>
          <a:noFill/>
          <a:ln/>
        </p:spPr>
        <p:txBody>
          <a:bodyPr wrap="square" lIns="0" tIns="0" rIns="0" bIns="0" rtlCol="0" anchor="ctr"/>
          <a:lstStyle/>
          <a:p>
            <a:pPr indent="0" marL="0">
              <a:lnSpc>
                <a:spcPct val="140000"/>
              </a:lnSpc>
              <a:buNone/>
            </a:pPr>
            <a:r>
              <a:rPr lang="en-US" sz="1100" dirty="0">
                <a:solidFill>
                  <a:srgbClr val="CBD5E1"/>
                </a:solidFill>
                <a:latin typeface="Calibri" pitchFamily="34" charset="0"/>
                <a:ea typeface="Calibri" pitchFamily="34" charset="-122"/>
                <a:cs typeface="Calibri" pitchFamily="34" charset="-120"/>
              </a:rPr>
              <a:t>Developed a realistic multi-provider healthcare scenario (Cardiac Emergency) with 6 simulated patients across 5 SQLite databases</a:t>
            </a:r>
            <a:endParaRPr lang="en-US" sz="1100" dirty="0"/>
          </a:p>
        </p:txBody>
      </p:sp>
      <p:sp>
        <p:nvSpPr>
          <p:cNvPr id="8" name="Shape 6"/>
          <p:cNvSpPr/>
          <p:nvPr/>
        </p:nvSpPr>
        <p:spPr>
          <a:xfrm>
            <a:off x="548640" y="2194560"/>
            <a:ext cx="11064240" cy="713232"/>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9" name="Shape 7"/>
          <p:cNvSpPr/>
          <p:nvPr/>
        </p:nvSpPr>
        <p:spPr>
          <a:xfrm>
            <a:off x="548640" y="2194560"/>
            <a:ext cx="45720" cy="713232"/>
          </a:xfrm>
          <a:prstGeom prst="rect">
            <a:avLst/>
          </a:prstGeom>
          <a:solidFill>
            <a:srgbClr val="3B82F6"/>
          </a:solidFill>
          <a:ln w="12700">
            <a:solidFill>
              <a:srgbClr val="3B82F6"/>
            </a:solidFill>
            <a:prstDash val="solid"/>
          </a:ln>
        </p:spPr>
      </p:sp>
      <p:sp>
        <p:nvSpPr>
          <p:cNvPr id="10" name="Text 8"/>
          <p:cNvSpPr/>
          <p:nvPr/>
        </p:nvSpPr>
        <p:spPr>
          <a:xfrm>
            <a:off x="749808" y="2231136"/>
            <a:ext cx="10744200" cy="640080"/>
          </a:xfrm>
          <a:prstGeom prst="rect">
            <a:avLst/>
          </a:prstGeom>
          <a:noFill/>
          <a:ln/>
        </p:spPr>
        <p:txBody>
          <a:bodyPr wrap="square" lIns="0" tIns="0" rIns="0" bIns="0" rtlCol="0" anchor="ctr"/>
          <a:lstStyle/>
          <a:p>
            <a:pPr indent="0" marL="0">
              <a:lnSpc>
                <a:spcPct val="140000"/>
              </a:lnSpc>
              <a:buNone/>
            </a:pPr>
            <a:r>
              <a:rPr lang="en-US" sz="1100" dirty="0">
                <a:solidFill>
                  <a:srgbClr val="CBD5E1"/>
                </a:solidFill>
                <a:latin typeface="Calibri" pitchFamily="34" charset="0"/>
                <a:ea typeface="Calibri" pitchFamily="34" charset="-122"/>
                <a:cs typeface="Calibri" pitchFamily="34" charset="-120"/>
              </a:rPr>
              <a:t>Demonstrated structural interoperability: flat records → HL7 v2, FHIR R4, and DICOM formats</a:t>
            </a:r>
            <a:endParaRPr lang="en-US" sz="1100" dirty="0"/>
          </a:p>
        </p:txBody>
      </p:sp>
      <p:sp>
        <p:nvSpPr>
          <p:cNvPr id="11" name="Shape 9"/>
          <p:cNvSpPr/>
          <p:nvPr/>
        </p:nvSpPr>
        <p:spPr>
          <a:xfrm>
            <a:off x="548640" y="2999232"/>
            <a:ext cx="11064240" cy="713232"/>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12" name="Shape 10"/>
          <p:cNvSpPr/>
          <p:nvPr/>
        </p:nvSpPr>
        <p:spPr>
          <a:xfrm>
            <a:off x="548640" y="2999232"/>
            <a:ext cx="45720" cy="713232"/>
          </a:xfrm>
          <a:prstGeom prst="rect">
            <a:avLst/>
          </a:prstGeom>
          <a:solidFill>
            <a:srgbClr val="3B82F6"/>
          </a:solidFill>
          <a:ln w="12700">
            <a:solidFill>
              <a:srgbClr val="3B82F6"/>
            </a:solidFill>
            <a:prstDash val="solid"/>
          </a:ln>
        </p:spPr>
      </p:sp>
      <p:sp>
        <p:nvSpPr>
          <p:cNvPr id="13" name="Text 11"/>
          <p:cNvSpPr/>
          <p:nvPr/>
        </p:nvSpPr>
        <p:spPr>
          <a:xfrm>
            <a:off x="749808" y="3035808"/>
            <a:ext cx="10744200" cy="640080"/>
          </a:xfrm>
          <a:prstGeom prst="rect">
            <a:avLst/>
          </a:prstGeom>
          <a:noFill/>
          <a:ln/>
        </p:spPr>
        <p:txBody>
          <a:bodyPr wrap="square" lIns="0" tIns="0" rIns="0" bIns="0" rtlCol="0" anchor="ctr"/>
          <a:lstStyle/>
          <a:p>
            <a:pPr indent="0" marL="0">
              <a:lnSpc>
                <a:spcPct val="140000"/>
              </a:lnSpc>
              <a:buNone/>
            </a:pPr>
            <a:r>
              <a:rPr lang="en-US" sz="1100" dirty="0">
                <a:solidFill>
                  <a:srgbClr val="CBD5E1"/>
                </a:solidFill>
                <a:latin typeface="Calibri" pitchFamily="34" charset="0"/>
                <a:ea typeface="Calibri" pitchFamily="34" charset="-122"/>
                <a:cs typeface="Calibri" pitchFamily="34" charset="-120"/>
              </a:rPr>
              <a:t>Demonstrated syntactic interoperability: correct encoding rules for HL7 v2 pipe delimiters, FHIR JSON, and DICOM tag notation</a:t>
            </a:r>
            <a:endParaRPr lang="en-US" sz="1100" dirty="0"/>
          </a:p>
        </p:txBody>
      </p:sp>
      <p:sp>
        <p:nvSpPr>
          <p:cNvPr id="14" name="Shape 12"/>
          <p:cNvSpPr/>
          <p:nvPr/>
        </p:nvSpPr>
        <p:spPr>
          <a:xfrm>
            <a:off x="548640" y="3803904"/>
            <a:ext cx="11064240" cy="713232"/>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15" name="Shape 13"/>
          <p:cNvSpPr/>
          <p:nvPr/>
        </p:nvSpPr>
        <p:spPr>
          <a:xfrm>
            <a:off x="548640" y="3803904"/>
            <a:ext cx="45720" cy="713232"/>
          </a:xfrm>
          <a:prstGeom prst="rect">
            <a:avLst/>
          </a:prstGeom>
          <a:solidFill>
            <a:srgbClr val="3B82F6"/>
          </a:solidFill>
          <a:ln w="12700">
            <a:solidFill>
              <a:srgbClr val="3B82F6"/>
            </a:solidFill>
            <a:prstDash val="solid"/>
          </a:ln>
        </p:spPr>
      </p:sp>
      <p:sp>
        <p:nvSpPr>
          <p:cNvPr id="16" name="Text 14"/>
          <p:cNvSpPr/>
          <p:nvPr/>
        </p:nvSpPr>
        <p:spPr>
          <a:xfrm>
            <a:off x="749808" y="3840480"/>
            <a:ext cx="10744200" cy="640080"/>
          </a:xfrm>
          <a:prstGeom prst="rect">
            <a:avLst/>
          </a:prstGeom>
          <a:noFill/>
          <a:ln/>
        </p:spPr>
        <p:txBody>
          <a:bodyPr wrap="square" lIns="0" tIns="0" rIns="0" bIns="0" rtlCol="0" anchor="ctr"/>
          <a:lstStyle/>
          <a:p>
            <a:pPr indent="0" marL="0">
              <a:lnSpc>
                <a:spcPct val="140000"/>
              </a:lnSpc>
              <a:buNone/>
            </a:pPr>
            <a:r>
              <a:rPr lang="en-US" sz="1100" dirty="0">
                <a:solidFill>
                  <a:srgbClr val="CBD5E1"/>
                </a:solidFill>
                <a:latin typeface="Calibri" pitchFamily="34" charset="0"/>
                <a:ea typeface="Calibri" pitchFamily="34" charset="-122"/>
                <a:cs typeface="Calibri" pitchFamily="34" charset="-120"/>
              </a:rPr>
              <a:t>Demonstrated semantic interoperability: ICD-10, LOINC, SNOMED CT, and RxNorm terminology mappings across all 5 channels</a:t>
            </a:r>
            <a:endParaRPr lang="en-US" sz="1100" dirty="0"/>
          </a:p>
        </p:txBody>
      </p:sp>
      <p:sp>
        <p:nvSpPr>
          <p:cNvPr id="17" name="Shape 15"/>
          <p:cNvSpPr/>
          <p:nvPr/>
        </p:nvSpPr>
        <p:spPr>
          <a:xfrm>
            <a:off x="548640" y="4608576"/>
            <a:ext cx="11064240" cy="713232"/>
          </a:xfrm>
          <a:prstGeom prst="rect">
            <a:avLst/>
          </a:prstGeom>
          <a:solidFill>
            <a:srgbClr val="1E293B"/>
          </a:solidFill>
          <a:ln w="6350">
            <a:solidFill>
              <a:srgbClr val="334155"/>
            </a:solidFill>
            <a:prstDash val="solid"/>
          </a:ln>
          <a:effectLst>
            <a:outerShdw sx="100000" sy="100000" kx="0" ky="0" algn="bl" rotWithShape="0" blurRad="76200" dist="25400" dir="8100000">
              <a:srgbClr val="000000">
                <a:alpha val="8000"/>
              </a:srgbClr>
            </a:outerShdw>
          </a:effectLst>
        </p:spPr>
      </p:sp>
      <p:sp>
        <p:nvSpPr>
          <p:cNvPr id="18" name="Shape 16"/>
          <p:cNvSpPr/>
          <p:nvPr/>
        </p:nvSpPr>
        <p:spPr>
          <a:xfrm>
            <a:off x="548640" y="4608576"/>
            <a:ext cx="45720" cy="713232"/>
          </a:xfrm>
          <a:prstGeom prst="rect">
            <a:avLst/>
          </a:prstGeom>
          <a:solidFill>
            <a:srgbClr val="3B82F6"/>
          </a:solidFill>
          <a:ln w="12700">
            <a:solidFill>
              <a:srgbClr val="3B82F6"/>
            </a:solidFill>
            <a:prstDash val="solid"/>
          </a:ln>
        </p:spPr>
      </p:sp>
      <p:sp>
        <p:nvSpPr>
          <p:cNvPr id="19" name="Text 17"/>
          <p:cNvSpPr/>
          <p:nvPr/>
        </p:nvSpPr>
        <p:spPr>
          <a:xfrm>
            <a:off x="749808" y="4645152"/>
            <a:ext cx="10744200" cy="640080"/>
          </a:xfrm>
          <a:prstGeom prst="rect">
            <a:avLst/>
          </a:prstGeom>
          <a:noFill/>
          <a:ln/>
        </p:spPr>
        <p:txBody>
          <a:bodyPr wrap="square" lIns="0" tIns="0" rIns="0" bIns="0" rtlCol="0" anchor="ctr"/>
          <a:lstStyle/>
          <a:p>
            <a:pPr indent="0" marL="0">
              <a:lnSpc>
                <a:spcPct val="140000"/>
              </a:lnSpc>
              <a:buNone/>
            </a:pPr>
            <a:r>
              <a:rPr lang="en-US" sz="1100" dirty="0">
                <a:solidFill>
                  <a:srgbClr val="CBD5E1"/>
                </a:solidFill>
                <a:latin typeface="Calibri" pitchFamily="34" charset="0"/>
                <a:ea typeface="Calibri" pitchFamily="34" charset="-122"/>
                <a:cs typeface="Calibri" pitchFamily="34" charset="-120"/>
              </a:rPr>
              <a:t>Built a live Python/Flask demo application showing before-and-after transformation at each data exchange point</a:t>
            </a:r>
            <a:endParaRPr lang="en-US" sz="1100" dirty="0"/>
          </a:p>
        </p:txBody>
      </p:sp>
      <p:sp>
        <p:nvSpPr>
          <p:cNvPr id="20" name="Shape 18"/>
          <p:cNvSpPr/>
          <p:nvPr/>
        </p:nvSpPr>
        <p:spPr>
          <a:xfrm>
            <a:off x="0" y="6537960"/>
            <a:ext cx="12161520" cy="320040"/>
          </a:xfrm>
          <a:prstGeom prst="rect">
            <a:avLst/>
          </a:prstGeom>
          <a:solidFill>
            <a:srgbClr val="1E293B"/>
          </a:solidFill>
          <a:ln w="12700">
            <a:solidFill>
              <a:srgbClr val="1E293B"/>
            </a:solidFill>
            <a:prstDash val="solid"/>
          </a:ln>
        </p:spPr>
      </p:sp>
      <p:sp>
        <p:nvSpPr>
          <p:cNvPr id="21" name="Text 19"/>
          <p:cNvSpPr/>
          <p:nvPr/>
        </p:nvSpPr>
        <p:spPr>
          <a:xfrm>
            <a:off x="365760" y="6565392"/>
            <a:ext cx="1143000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COMP3342 — Health Systems Interoperability &amp; Integration  •  Group [GROUP NUMBER]  •  June 17,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COMP3342 Health Interoperability</dc:title>
  <dc:subject>PptxGenJS Presentation</dc:subject>
  <dc:creator>Group [GROUP NUMBER]</dc:creator>
  <cp:lastModifiedBy>Group [GROUP NUMBER]</cp:lastModifiedBy>
  <cp:revision>1</cp:revision>
  <dcterms:created xsi:type="dcterms:W3CDTF">2026-06-10T20:05:09Z</dcterms:created>
  <dcterms:modified xsi:type="dcterms:W3CDTF">2026-06-10T20:05:09Z</dcterms:modified>
</cp:coreProperties>
</file>